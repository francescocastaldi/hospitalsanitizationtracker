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5" d="100"/>
          <a:sy n="95" d="100"/>
        </p:scale>
        <p:origin x="810"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202598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284C7"/>
        </a:solidFill>
        <a:effectLst/>
      </p:bgPr>
    </p:bg>
    <p:spTree>
      <p:nvGrpSpPr>
        <p:cNvPr id="1" name=""/>
        <p:cNvGrpSpPr/>
        <p:nvPr/>
      </p:nvGrpSpPr>
      <p:grpSpPr>
        <a:xfrm>
          <a:off x="0" y="0"/>
          <a:ext cx="0" cy="0"/>
          <a:chOff x="0" y="0"/>
          <a:chExt cx="0" cy="0"/>
        </a:xfrm>
      </p:grpSpPr>
      <p:sp>
        <p:nvSpPr>
          <p:cNvPr id="2" name="Text 0"/>
          <p:cNvSpPr/>
          <p:nvPr/>
        </p:nvSpPr>
        <p:spPr>
          <a:xfrm>
            <a:off x="587675" y="1632585"/>
            <a:ext cx="7968491" cy="685800"/>
          </a:xfrm>
          <a:prstGeom prst="rect">
            <a:avLst/>
          </a:prstGeom>
          <a:noFill/>
          <a:ln/>
        </p:spPr>
        <p:txBody>
          <a:bodyPr wrap="square" lIns="0" tIns="0" rIns="0" bIns="0" rtlCol="0" anchor="t"/>
          <a:lstStyle/>
          <a:p>
            <a:pPr marL="0" indent="0" algn="ctr">
              <a:lnSpc>
                <a:spcPts val="5400"/>
              </a:lnSpc>
              <a:buNone/>
            </a:pPr>
            <a:r>
              <a:rPr lang="en-US" sz="4500" b="1" dirty="0">
                <a:solidFill>
                  <a:srgbClr val="FFFFFF"/>
                </a:solidFill>
                <a:latin typeface="Arial" pitchFamily="34" charset="0"/>
                <a:ea typeface="Arial" pitchFamily="34" charset="-122"/>
                <a:cs typeface="Arial" pitchFamily="34" charset="-120"/>
              </a:rPr>
              <a:t>Hospital Sanitization Tracker</a:t>
            </a:r>
            <a:endParaRPr lang="en-US" sz="4500" dirty="0"/>
          </a:p>
        </p:txBody>
      </p:sp>
      <p:sp>
        <p:nvSpPr>
          <p:cNvPr id="3" name="Text 1"/>
          <p:cNvSpPr/>
          <p:nvPr/>
        </p:nvSpPr>
        <p:spPr>
          <a:xfrm>
            <a:off x="1633710" y="2470785"/>
            <a:ext cx="5876420" cy="320040"/>
          </a:xfrm>
          <a:prstGeom prst="rect">
            <a:avLst/>
          </a:prstGeom>
          <a:noFill/>
          <a:ln/>
        </p:spPr>
        <p:txBody>
          <a:bodyPr wrap="square" lIns="0" tIns="0" rIns="0" bIns="0" rtlCol="0" anchor="t"/>
          <a:lstStyle/>
          <a:p>
            <a:pPr marL="0" indent="0" algn="ctr">
              <a:lnSpc>
                <a:spcPts val="2520"/>
              </a:lnSpc>
              <a:buNone/>
            </a:pPr>
            <a:r>
              <a:rPr lang="en-US" sz="1800" dirty="0">
                <a:solidFill>
                  <a:srgbClr val="FFFFFF"/>
                </a:solidFill>
                <a:latin typeface="Arial" pitchFamily="34" charset="0"/>
                <a:ea typeface="Arial" pitchFamily="34" charset="-122"/>
                <a:cs typeface="Arial" pitchFamily="34" charset="-120"/>
              </a:rPr>
              <a:t>Tracciabilità delle sanificazioni ospedaliere su blockchain</a:t>
            </a:r>
            <a:endParaRPr lang="en-US" sz="1800" dirty="0"/>
          </a:p>
        </p:txBody>
      </p:sp>
      <p:sp>
        <p:nvSpPr>
          <p:cNvPr id="4" name="Text 2"/>
          <p:cNvSpPr/>
          <p:nvPr/>
        </p:nvSpPr>
        <p:spPr>
          <a:xfrm>
            <a:off x="1730216" y="3324225"/>
            <a:ext cx="5683568" cy="186690"/>
          </a:xfrm>
          <a:prstGeom prst="rect">
            <a:avLst/>
          </a:prstGeom>
          <a:noFill/>
          <a:ln/>
        </p:spPr>
        <p:txBody>
          <a:bodyPr wrap="square" lIns="0" tIns="0" rIns="0" bIns="0" rtlCol="0" anchor="t"/>
          <a:lstStyle/>
          <a:p>
            <a:pPr marL="0" indent="0" algn="ctr">
              <a:lnSpc>
                <a:spcPts val="1470"/>
              </a:lnSpc>
              <a:buNone/>
            </a:pPr>
            <a:r>
              <a:rPr lang="en-US" sz="1050" dirty="0">
                <a:solidFill>
                  <a:srgbClr val="FFFFFF"/>
                </a:solidFill>
                <a:latin typeface="Arial" pitchFamily="34" charset="0"/>
                <a:ea typeface="Arial" pitchFamily="34" charset="-122"/>
                <a:cs typeface="Arial" pitchFamily="34" charset="-120"/>
              </a:rPr>
              <a:t>Francesco Castaldi • Blockchain and Cryptocurrencies • Università di Bologna • Febbraio 2026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09600" y="2198370"/>
          <a:ext cx="7924800" cy="1952624"/>
        </p:xfrm>
        <a:graphic>
          <a:graphicData uri="http://schemas.openxmlformats.org/drawingml/2006/table">
            <a:tbl>
              <a:tblPr/>
              <a:tblGrid>
                <a:gridCol w="3962400">
                  <a:extLst>
                    <a:ext uri="{9D8B030D-6E8A-4147-A177-3AD203B41FA5}">
                      <a16:colId xmlns:a16="http://schemas.microsoft.com/office/drawing/2014/main" val="20000"/>
                    </a:ext>
                  </a:extLst>
                </a:gridCol>
                <a:gridCol w="3962400">
                  <a:extLst>
                    <a:ext uri="{9D8B030D-6E8A-4147-A177-3AD203B41FA5}">
                      <a16:colId xmlns:a16="http://schemas.microsoft.com/office/drawing/2014/main" val="20001"/>
                    </a:ext>
                  </a:extLst>
                </a:gridCol>
              </a:tblGrid>
              <a:tr h="488156">
                <a:tc>
                  <a:txBody>
                    <a:bodyPr/>
                    <a:lstStyle/>
                    <a:p>
                      <a:pPr marL="0" indent="0" algn="l">
                        <a:buNone/>
                      </a:pPr>
                      <a:r>
                        <a:rPr lang="en-US" sz="1200" b="1" dirty="0">
                          <a:solidFill>
                            <a:srgbClr val="0284C7"/>
                          </a:solidFill>
                          <a:latin typeface="Arial" pitchFamily="34" charset="0"/>
                          <a:ea typeface="Arial" pitchFamily="34" charset="-122"/>
                          <a:cs typeface="Arial" pitchFamily="34" charset="-120"/>
                        </a:rPr>
                        <a:t>Aspetto</a:t>
                      </a:r>
                      <a:endParaRPr lang="en-US" sz="1200" dirty="0">
                        <a:latin typeface="Arial" charset="0"/>
                        <a:ea typeface="Arial" charset="0"/>
                        <a:cs typeface="Arial" charset="0"/>
                      </a:endParaRPr>
                    </a:p>
                  </a:txBody>
                  <a:tcPr anchor="ctr">
                    <a:lnL w="0" cap="flat" cmpd="sng" algn="ctr">
                      <a:noFill/>
                    </a:lnL>
                    <a:lnR w="0" cap="flat" cmpd="sng" algn="ctr">
                      <a:noFill/>
                    </a:lnR>
                    <a:lnT w="0" cap="flat" cmpd="sng" algn="ctr">
                      <a:noFill/>
                    </a:lnT>
                    <a:lnB w="12700" cap="flat" cmpd="sng" algn="ctr">
                      <a:solidFill>
                        <a:srgbClr val="E2E8F0"/>
                      </a:solidFill>
                      <a:prstDash val="solid"/>
                      <a:round/>
                      <a:headEnd type="none" w="med" len="med"/>
                      <a:tailEnd type="none" w="med" len="med"/>
                    </a:lnB>
                    <a:solidFill>
                      <a:srgbClr val="F1F5F9"/>
                    </a:solidFill>
                  </a:tcPr>
                </a:tc>
                <a:tc>
                  <a:txBody>
                    <a:bodyPr/>
                    <a:lstStyle/>
                    <a:p>
                      <a:pPr marL="0" indent="0" algn="l">
                        <a:buNone/>
                      </a:pPr>
                      <a:r>
                        <a:rPr lang="en-US" sz="1200" b="1" dirty="0">
                          <a:solidFill>
                            <a:srgbClr val="0284C7"/>
                          </a:solidFill>
                          <a:latin typeface="Arial" pitchFamily="34" charset="0"/>
                          <a:ea typeface="Arial" pitchFamily="34" charset="-122"/>
                          <a:cs typeface="Arial" pitchFamily="34" charset="-120"/>
                        </a:rPr>
                        <a:t>Caratteristica</a:t>
                      </a:r>
                      <a:endParaRPr lang="en-US" sz="1200" dirty="0">
                        <a:latin typeface="Arial" charset="0"/>
                        <a:ea typeface="Arial" charset="0"/>
                        <a:cs typeface="Arial" charset="0"/>
                      </a:endParaRPr>
                    </a:p>
                  </a:txBody>
                  <a:tcPr anchor="ctr">
                    <a:lnL w="0" cap="flat" cmpd="sng" algn="ctr">
                      <a:noFill/>
                    </a:lnL>
                    <a:lnR w="0" cap="flat" cmpd="sng" algn="ctr">
                      <a:noFill/>
                    </a:lnR>
                    <a:lnT w="0" cap="flat" cmpd="sng" algn="ctr">
                      <a:noFill/>
                    </a:lnT>
                    <a:lnB w="1270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0"/>
                  </a:ext>
                </a:extLst>
              </a:tr>
              <a:tr h="488156">
                <a:tc>
                  <a:txBody>
                    <a:bodyPr/>
                    <a:lstStyle/>
                    <a:p>
                      <a:pPr marL="0" indent="0">
                        <a:buNone/>
                      </a:pPr>
                      <a:r>
                        <a:rPr lang="en-US" sz="1200" dirty="0">
                          <a:solidFill>
                            <a:srgbClr val="475569"/>
                          </a:solidFill>
                          <a:latin typeface="Arial" pitchFamily="34" charset="0"/>
                          <a:ea typeface="Arial" pitchFamily="34" charset="-122"/>
                          <a:cs typeface="Arial" pitchFamily="34" charset="-120"/>
                        </a:rPr>
                        <a:t>Dominio</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Sanificazioni ospedaliere</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488156">
                <a:tc>
                  <a:txBody>
                    <a:bodyPr/>
                    <a:lstStyle/>
                    <a:p>
                      <a:pPr marL="0" indent="0">
                        <a:buNone/>
                      </a:pPr>
                      <a:r>
                        <a:rPr lang="en-US" sz="1200" dirty="0">
                          <a:solidFill>
                            <a:srgbClr val="475569"/>
                          </a:solidFill>
                          <a:latin typeface="Arial" pitchFamily="34" charset="0"/>
                          <a:ea typeface="Arial" pitchFamily="34" charset="-122"/>
                          <a:cs typeface="Arial" pitchFamily="34" charset="-120"/>
                        </a:rPr>
                        <a:t>Tecnologia</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Blockchain Ethereum (Sepolia)</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extLst>
                  <a:ext uri="{0D108BD9-81ED-4DB2-BD59-A6C34878D82A}">
                    <a16:rowId xmlns:a16="http://schemas.microsoft.com/office/drawing/2014/main" val="10002"/>
                  </a:ext>
                </a:extLst>
              </a:tr>
              <a:tr h="488156">
                <a:tc>
                  <a:txBody>
                    <a:bodyPr/>
                    <a:lstStyle/>
                    <a:p>
                      <a:pPr marL="0" indent="0">
                        <a:buNone/>
                      </a:pPr>
                      <a:r>
                        <a:rPr lang="en-US" sz="1200" dirty="0">
                          <a:solidFill>
                            <a:srgbClr val="475569"/>
                          </a:solidFill>
                          <a:latin typeface="Arial" pitchFamily="34" charset="0"/>
                          <a:ea typeface="Arial" pitchFamily="34" charset="-122"/>
                          <a:cs typeface="Arial" pitchFamily="34" charset="-120"/>
                        </a:rPr>
                        <a:t>Ispirazione</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Proposal #7 - DLTs for Supply Chain</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2" name="Text 0"/>
          <p:cNvSpPr/>
          <p:nvPr/>
        </p:nvSpPr>
        <p:spPr>
          <a:xfrm>
            <a:off x="609600" y="609600"/>
            <a:ext cx="8083296" cy="411480"/>
          </a:xfrm>
          <a:prstGeom prst="rect">
            <a:avLst/>
          </a:prstGeom>
          <a:noFill/>
          <a:ln/>
        </p:spPr>
        <p:txBody>
          <a:bodyPr wrap="square" lIns="0" tIns="0" rIns="0" bIns="0" rtlCol="0" anchor="t"/>
          <a:lstStyle/>
          <a:p>
            <a:pPr marL="0" indent="0">
              <a:lnSpc>
                <a:spcPts val="3240"/>
              </a:lnSpc>
              <a:buNone/>
            </a:pPr>
            <a:r>
              <a:rPr lang="en-US" sz="2700" b="1" dirty="0">
                <a:solidFill>
                  <a:srgbClr val="0284C7"/>
                </a:solidFill>
                <a:latin typeface="Arial" pitchFamily="34" charset="0"/>
                <a:ea typeface="Arial" pitchFamily="34" charset="-122"/>
                <a:cs typeface="Arial" pitchFamily="34" charset="-120"/>
              </a:rPr>
              <a:t>Introduzione al Progetto</a:t>
            </a:r>
            <a:endParaRPr lang="en-US" sz="2700" dirty="0"/>
          </a:p>
        </p:txBody>
      </p:sp>
      <p:sp>
        <p:nvSpPr>
          <p:cNvPr id="4" name="Text 1"/>
          <p:cNvSpPr/>
          <p:nvPr/>
        </p:nvSpPr>
        <p:spPr>
          <a:xfrm>
            <a:off x="609600" y="1249680"/>
            <a:ext cx="7924800" cy="720090"/>
          </a:xfrm>
          <a:prstGeom prst="rect">
            <a:avLst/>
          </a:prstGeom>
          <a:noFill/>
          <a:ln/>
        </p:spPr>
        <p:txBody>
          <a:bodyPr wrap="square" lIns="0" tIns="0" rIns="0" bIns="0" rtlCol="0" anchor="t"/>
          <a:lstStyle/>
          <a:p>
            <a:pPr marL="0" indent="0">
              <a:lnSpc>
                <a:spcPts val="1890"/>
              </a:lnSpc>
              <a:buNone/>
            </a:pPr>
            <a:r>
              <a:rPr lang="en-US" sz="1350" dirty="0">
                <a:solidFill>
                  <a:srgbClr val="475569"/>
                </a:solidFill>
                <a:latin typeface="Arial" pitchFamily="34" charset="0"/>
                <a:ea typeface="Arial" pitchFamily="34" charset="-122"/>
                <a:cs typeface="Arial" pitchFamily="34" charset="-120"/>
              </a:rPr>
              <a:t>HospitalSanitizationTracker è un sistema innovativo che sfrutta la tecnologia blockchain per tracciare le attività di sanificazione in ambito ospedaliero. Ogni intervento viene registrato come evento immutabile su Ethereum, garantendo audit verificabili da terze parti.</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09600" y="1882140"/>
          <a:ext cx="7924800" cy="1952624"/>
        </p:xfrm>
        <a:graphic>
          <a:graphicData uri="http://schemas.openxmlformats.org/drawingml/2006/table">
            <a:tbl>
              <a:tblPr/>
              <a:tblGrid>
                <a:gridCol w="3962400">
                  <a:extLst>
                    <a:ext uri="{9D8B030D-6E8A-4147-A177-3AD203B41FA5}">
                      <a16:colId xmlns:a16="http://schemas.microsoft.com/office/drawing/2014/main" val="20000"/>
                    </a:ext>
                  </a:extLst>
                </a:gridCol>
                <a:gridCol w="3962400">
                  <a:extLst>
                    <a:ext uri="{9D8B030D-6E8A-4147-A177-3AD203B41FA5}">
                      <a16:colId xmlns:a16="http://schemas.microsoft.com/office/drawing/2014/main" val="20001"/>
                    </a:ext>
                  </a:extLst>
                </a:gridCol>
              </a:tblGrid>
              <a:tr h="488156">
                <a:tc>
                  <a:txBody>
                    <a:bodyPr/>
                    <a:lstStyle/>
                    <a:p>
                      <a:pPr marL="0" indent="0" algn="l">
                        <a:buNone/>
                      </a:pPr>
                      <a:r>
                        <a:rPr lang="en-US" sz="1200" b="1" dirty="0">
                          <a:solidFill>
                            <a:srgbClr val="0284C7"/>
                          </a:solidFill>
                          <a:latin typeface="Arial" pitchFamily="34" charset="0"/>
                          <a:ea typeface="Arial" pitchFamily="34" charset="-122"/>
                          <a:cs typeface="Arial" pitchFamily="34" charset="-120"/>
                        </a:rPr>
                        <a:t>Problema</a:t>
                      </a:r>
                      <a:endParaRPr lang="en-US" sz="1200" dirty="0">
                        <a:latin typeface="Arial" charset="0"/>
                        <a:ea typeface="Arial" charset="0"/>
                        <a:cs typeface="Arial" charset="0"/>
                      </a:endParaRPr>
                    </a:p>
                  </a:txBody>
                  <a:tcPr anchor="ctr">
                    <a:lnL w="0" cap="flat" cmpd="sng" algn="ctr">
                      <a:noFill/>
                    </a:lnL>
                    <a:lnR w="0" cap="flat" cmpd="sng" algn="ctr">
                      <a:noFill/>
                    </a:lnR>
                    <a:lnT w="0" cap="flat" cmpd="sng" algn="ctr">
                      <a:noFill/>
                    </a:lnT>
                    <a:lnB w="12700" cap="flat" cmpd="sng" algn="ctr">
                      <a:solidFill>
                        <a:srgbClr val="E2E8F0"/>
                      </a:solidFill>
                      <a:prstDash val="solid"/>
                      <a:round/>
                      <a:headEnd type="none" w="med" len="med"/>
                      <a:tailEnd type="none" w="med" len="med"/>
                    </a:lnB>
                    <a:solidFill>
                      <a:srgbClr val="F1F5F9"/>
                    </a:solidFill>
                  </a:tcPr>
                </a:tc>
                <a:tc>
                  <a:txBody>
                    <a:bodyPr/>
                    <a:lstStyle/>
                    <a:p>
                      <a:pPr marL="0" indent="0" algn="l">
                        <a:buNone/>
                      </a:pPr>
                      <a:r>
                        <a:rPr lang="en-US" sz="1200" b="1" dirty="0">
                          <a:solidFill>
                            <a:srgbClr val="0284C7"/>
                          </a:solidFill>
                          <a:latin typeface="Arial" pitchFamily="34" charset="0"/>
                          <a:ea typeface="Arial" pitchFamily="34" charset="-122"/>
                          <a:cs typeface="Arial" pitchFamily="34" charset="-120"/>
                        </a:rPr>
                        <a:t>Impatto</a:t>
                      </a:r>
                      <a:endParaRPr lang="en-US" sz="1200" dirty="0">
                        <a:latin typeface="Arial" charset="0"/>
                        <a:ea typeface="Arial" charset="0"/>
                        <a:cs typeface="Arial" charset="0"/>
                      </a:endParaRPr>
                    </a:p>
                  </a:txBody>
                  <a:tcPr anchor="ctr">
                    <a:lnL w="0" cap="flat" cmpd="sng" algn="ctr">
                      <a:noFill/>
                    </a:lnL>
                    <a:lnR w="0" cap="flat" cmpd="sng" algn="ctr">
                      <a:noFill/>
                    </a:lnR>
                    <a:lnT w="0" cap="flat" cmpd="sng" algn="ctr">
                      <a:noFill/>
                    </a:lnT>
                    <a:lnB w="1270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0"/>
                  </a:ext>
                </a:extLst>
              </a:tr>
              <a:tr h="488156">
                <a:tc>
                  <a:txBody>
                    <a:bodyPr/>
                    <a:lstStyle/>
                    <a:p>
                      <a:pPr marL="0" indent="0">
                        <a:buNone/>
                      </a:pPr>
                      <a:r>
                        <a:rPr lang="en-US" sz="1200" dirty="0">
                          <a:solidFill>
                            <a:srgbClr val="475569"/>
                          </a:solidFill>
                          <a:latin typeface="Arial" pitchFamily="34" charset="0"/>
                          <a:ea typeface="Arial" pitchFamily="34" charset="-122"/>
                          <a:cs typeface="Arial" pitchFamily="34" charset="-120"/>
                        </a:rPr>
                        <a:t>Fogli cartacei</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Facilmente smarribili o alterabili</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488156">
                <a:tc>
                  <a:txBody>
                    <a:bodyPr/>
                    <a:lstStyle/>
                    <a:p>
                      <a:pPr marL="0" indent="0">
                        <a:buNone/>
                      </a:pPr>
                      <a:r>
                        <a:rPr lang="en-US" sz="1200" dirty="0">
                          <a:solidFill>
                            <a:srgbClr val="475569"/>
                          </a:solidFill>
                          <a:latin typeface="Arial" pitchFamily="34" charset="0"/>
                          <a:ea typeface="Arial" pitchFamily="34" charset="-122"/>
                          <a:cs typeface="Arial" pitchFamily="34" charset="-120"/>
                        </a:rPr>
                        <a:t>Database centralizzati</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Modificabili a posteriori senza traccia</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extLst>
                  <a:ext uri="{0D108BD9-81ED-4DB2-BD59-A6C34878D82A}">
                    <a16:rowId xmlns:a16="http://schemas.microsoft.com/office/drawing/2014/main" val="10002"/>
                  </a:ext>
                </a:extLst>
              </a:tr>
              <a:tr h="488156">
                <a:tc>
                  <a:txBody>
                    <a:bodyPr/>
                    <a:lstStyle/>
                    <a:p>
                      <a:pPr marL="0" indent="0">
                        <a:buNone/>
                      </a:pPr>
                      <a:r>
                        <a:rPr lang="en-US" sz="1200" dirty="0">
                          <a:solidFill>
                            <a:srgbClr val="475569"/>
                          </a:solidFill>
                          <a:latin typeface="Arial" pitchFamily="34" charset="0"/>
                          <a:ea typeface="Arial" pitchFamily="34" charset="-122"/>
                          <a:cs typeface="Arial" pitchFamily="34" charset="-120"/>
                        </a:rPr>
                        <a:t>Identità operatore</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Autenticità non verificabile</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3" name="Text 0"/>
          <p:cNvSpPr/>
          <p:nvPr/>
        </p:nvSpPr>
        <p:spPr>
          <a:xfrm>
            <a:off x="609600" y="609600"/>
            <a:ext cx="8083296" cy="411480"/>
          </a:xfrm>
          <a:prstGeom prst="rect">
            <a:avLst/>
          </a:prstGeom>
          <a:noFill/>
          <a:ln/>
        </p:spPr>
        <p:txBody>
          <a:bodyPr wrap="square" lIns="0" tIns="0" rIns="0" bIns="0" rtlCol="0" anchor="t"/>
          <a:lstStyle/>
          <a:p>
            <a:pPr marL="0" indent="0">
              <a:lnSpc>
                <a:spcPts val="3240"/>
              </a:lnSpc>
              <a:buNone/>
            </a:pPr>
            <a:r>
              <a:rPr lang="en-US" sz="2700" b="1" dirty="0">
                <a:solidFill>
                  <a:srgbClr val="0284C7"/>
                </a:solidFill>
                <a:latin typeface="Arial" pitchFamily="34" charset="0"/>
                <a:ea typeface="Arial" pitchFamily="34" charset="-122"/>
                <a:cs typeface="Arial" pitchFamily="34" charset="-120"/>
              </a:rPr>
              <a:t>Il Problema dei Sistemi Tradizionali</a:t>
            </a:r>
            <a:endParaRPr lang="en-US" sz="2700" dirty="0"/>
          </a:p>
        </p:txBody>
      </p:sp>
      <p:sp>
        <p:nvSpPr>
          <p:cNvPr id="2" name="Text 1"/>
          <p:cNvSpPr/>
          <p:nvPr/>
        </p:nvSpPr>
        <p:spPr>
          <a:xfrm>
            <a:off x="609600" y="1249680"/>
            <a:ext cx="7924800" cy="480060"/>
          </a:xfrm>
          <a:prstGeom prst="rect">
            <a:avLst/>
          </a:prstGeom>
          <a:noFill/>
          <a:ln/>
        </p:spPr>
        <p:txBody>
          <a:bodyPr wrap="square" lIns="0" tIns="0" rIns="0" bIns="0" rtlCol="0" anchor="t"/>
          <a:lstStyle/>
          <a:p>
            <a:pPr marL="0" indent="0">
              <a:lnSpc>
                <a:spcPts val="1890"/>
              </a:lnSpc>
              <a:buNone/>
            </a:pPr>
            <a:r>
              <a:rPr lang="en-US" sz="1350" dirty="0">
                <a:solidFill>
                  <a:srgbClr val="475569"/>
                </a:solidFill>
                <a:latin typeface="Arial" pitchFamily="34" charset="0"/>
                <a:ea typeface="Arial" pitchFamily="34" charset="-122"/>
                <a:cs typeface="Arial" pitchFamily="34" charset="-120"/>
              </a:rPr>
              <a:t>Le sanificazioni ospedaliere sono documentate tramite moduli cartacei o sistemi informatici centralizzati, con problemi critici di affidabilità e verificabilità.</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09600" y="1882140"/>
          <a:ext cx="7924800" cy="1952624"/>
        </p:xfrm>
        <a:graphic>
          <a:graphicData uri="http://schemas.openxmlformats.org/drawingml/2006/table">
            <a:tbl>
              <a:tblPr/>
              <a:tblGrid>
                <a:gridCol w="3962400">
                  <a:extLst>
                    <a:ext uri="{9D8B030D-6E8A-4147-A177-3AD203B41FA5}">
                      <a16:colId xmlns:a16="http://schemas.microsoft.com/office/drawing/2014/main" val="20000"/>
                    </a:ext>
                  </a:extLst>
                </a:gridCol>
                <a:gridCol w="3962400">
                  <a:extLst>
                    <a:ext uri="{9D8B030D-6E8A-4147-A177-3AD203B41FA5}">
                      <a16:colId xmlns:a16="http://schemas.microsoft.com/office/drawing/2014/main" val="20001"/>
                    </a:ext>
                  </a:extLst>
                </a:gridCol>
              </a:tblGrid>
              <a:tr h="488156">
                <a:tc>
                  <a:txBody>
                    <a:bodyPr/>
                    <a:lstStyle/>
                    <a:p>
                      <a:pPr marL="0" indent="0" algn="l">
                        <a:buNone/>
                      </a:pPr>
                      <a:r>
                        <a:rPr lang="en-US" sz="1200" b="1" dirty="0">
                          <a:solidFill>
                            <a:srgbClr val="0284C7"/>
                          </a:solidFill>
                          <a:latin typeface="Arial" pitchFamily="34" charset="0"/>
                          <a:ea typeface="Arial" pitchFamily="34" charset="-122"/>
                          <a:cs typeface="Arial" pitchFamily="34" charset="-120"/>
                        </a:rPr>
                        <a:t>Caratteristica Blockchain</a:t>
                      </a:r>
                      <a:endParaRPr lang="en-US" sz="1200" dirty="0">
                        <a:latin typeface="Arial" charset="0"/>
                        <a:ea typeface="Arial" charset="0"/>
                        <a:cs typeface="Arial" charset="0"/>
                      </a:endParaRPr>
                    </a:p>
                  </a:txBody>
                  <a:tcPr anchor="ctr">
                    <a:lnL w="0" cap="flat" cmpd="sng" algn="ctr">
                      <a:noFill/>
                    </a:lnL>
                    <a:lnR w="0" cap="flat" cmpd="sng" algn="ctr">
                      <a:noFill/>
                    </a:lnR>
                    <a:lnT w="0" cap="flat" cmpd="sng" algn="ctr">
                      <a:noFill/>
                    </a:lnT>
                    <a:lnB w="12700" cap="flat" cmpd="sng" algn="ctr">
                      <a:solidFill>
                        <a:srgbClr val="E2E8F0"/>
                      </a:solidFill>
                      <a:prstDash val="solid"/>
                      <a:round/>
                      <a:headEnd type="none" w="med" len="med"/>
                      <a:tailEnd type="none" w="med" len="med"/>
                    </a:lnB>
                    <a:solidFill>
                      <a:srgbClr val="F1F5F9"/>
                    </a:solidFill>
                  </a:tcPr>
                </a:tc>
                <a:tc>
                  <a:txBody>
                    <a:bodyPr/>
                    <a:lstStyle/>
                    <a:p>
                      <a:pPr marL="0" indent="0" algn="l">
                        <a:buNone/>
                      </a:pPr>
                      <a:r>
                        <a:rPr lang="en-US" sz="1200" b="1" dirty="0">
                          <a:solidFill>
                            <a:srgbClr val="0284C7"/>
                          </a:solidFill>
                          <a:latin typeface="Arial" pitchFamily="34" charset="0"/>
                          <a:ea typeface="Arial" pitchFamily="34" charset="-122"/>
                          <a:cs typeface="Arial" pitchFamily="34" charset="-120"/>
                        </a:rPr>
                        <a:t>Beneficio per HST</a:t>
                      </a:r>
                      <a:endParaRPr lang="en-US" sz="1200" dirty="0">
                        <a:latin typeface="Arial" charset="0"/>
                        <a:ea typeface="Arial" charset="0"/>
                        <a:cs typeface="Arial" charset="0"/>
                      </a:endParaRPr>
                    </a:p>
                  </a:txBody>
                  <a:tcPr anchor="ctr">
                    <a:lnL w="0" cap="flat" cmpd="sng" algn="ctr">
                      <a:noFill/>
                    </a:lnL>
                    <a:lnR w="0" cap="flat" cmpd="sng" algn="ctr">
                      <a:noFill/>
                    </a:lnR>
                    <a:lnT w="0" cap="flat" cmpd="sng" algn="ctr">
                      <a:noFill/>
                    </a:lnT>
                    <a:lnB w="1270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0"/>
                  </a:ext>
                </a:extLst>
              </a:tr>
              <a:tr h="488156">
                <a:tc>
                  <a:txBody>
                    <a:bodyPr/>
                    <a:lstStyle/>
                    <a:p>
                      <a:pPr marL="0" indent="0">
                        <a:buNone/>
                      </a:pPr>
                      <a:r>
                        <a:rPr lang="en-US" sz="1200" dirty="0">
                          <a:solidFill>
                            <a:srgbClr val="475569"/>
                          </a:solidFill>
                          <a:latin typeface="Arial" pitchFamily="34" charset="0"/>
                          <a:ea typeface="Arial" pitchFamily="34" charset="-122"/>
                          <a:cs typeface="Arial" pitchFamily="34" charset="-120"/>
                        </a:rPr>
                        <a:t>Registro append-only</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Dati non modificabili</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488156">
                <a:tc>
                  <a:txBody>
                    <a:bodyPr/>
                    <a:lstStyle/>
                    <a:p>
                      <a:pPr marL="0" indent="0">
                        <a:buNone/>
                      </a:pPr>
                      <a:r>
                        <a:rPr lang="en-US" sz="1200" dirty="0">
                          <a:solidFill>
                            <a:srgbClr val="475569"/>
                          </a:solidFill>
                          <a:latin typeface="Arial" pitchFamily="34" charset="0"/>
                          <a:ea typeface="Arial" pitchFamily="34" charset="-122"/>
                          <a:cs typeface="Arial" pitchFamily="34" charset="-120"/>
                        </a:rPr>
                        <a:t>Firma crittografica</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Identità certificata</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extLst>
                  <a:ext uri="{0D108BD9-81ED-4DB2-BD59-A6C34878D82A}">
                    <a16:rowId xmlns:a16="http://schemas.microsoft.com/office/drawing/2014/main" val="10002"/>
                  </a:ext>
                </a:extLst>
              </a:tr>
              <a:tr h="488156">
                <a:tc>
                  <a:txBody>
                    <a:bodyPr/>
                    <a:lstStyle/>
                    <a:p>
                      <a:pPr marL="0" indent="0">
                        <a:buNone/>
                      </a:pPr>
                      <a:r>
                        <a:rPr lang="en-US" sz="1200" dirty="0">
                          <a:solidFill>
                            <a:srgbClr val="475569"/>
                          </a:solidFill>
                          <a:latin typeface="Arial" pitchFamily="34" charset="0"/>
                          <a:ea typeface="Arial" pitchFamily="34" charset="-122"/>
                          <a:cs typeface="Arial" pitchFamily="34" charset="-120"/>
                        </a:rPr>
                        <a:t>Timestamp immutabile</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Tracciabilità temporale</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3" name="Text 0"/>
          <p:cNvSpPr/>
          <p:nvPr/>
        </p:nvSpPr>
        <p:spPr>
          <a:xfrm>
            <a:off x="609600" y="609600"/>
            <a:ext cx="8083296" cy="411480"/>
          </a:xfrm>
          <a:prstGeom prst="rect">
            <a:avLst/>
          </a:prstGeom>
          <a:noFill/>
          <a:ln/>
        </p:spPr>
        <p:txBody>
          <a:bodyPr wrap="square" lIns="0" tIns="0" rIns="0" bIns="0" rtlCol="0" anchor="t"/>
          <a:lstStyle/>
          <a:p>
            <a:pPr marL="0" indent="0">
              <a:lnSpc>
                <a:spcPts val="3240"/>
              </a:lnSpc>
              <a:buNone/>
            </a:pPr>
            <a:r>
              <a:rPr lang="en-US" sz="2700" b="1" dirty="0">
                <a:solidFill>
                  <a:srgbClr val="0284C7"/>
                </a:solidFill>
                <a:latin typeface="Arial" pitchFamily="34" charset="0"/>
                <a:ea typeface="Arial" pitchFamily="34" charset="-122"/>
                <a:cs typeface="Arial" pitchFamily="34" charset="-120"/>
              </a:rPr>
              <a:t>La Soluzione Blockchain</a:t>
            </a:r>
            <a:endParaRPr lang="en-US" sz="2700" dirty="0"/>
          </a:p>
        </p:txBody>
      </p:sp>
      <p:sp>
        <p:nvSpPr>
          <p:cNvPr id="4" name="Text 1"/>
          <p:cNvSpPr/>
          <p:nvPr/>
        </p:nvSpPr>
        <p:spPr>
          <a:xfrm>
            <a:off x="609600" y="1249680"/>
            <a:ext cx="7924800" cy="480060"/>
          </a:xfrm>
          <a:prstGeom prst="rect">
            <a:avLst/>
          </a:prstGeom>
          <a:noFill/>
          <a:ln/>
        </p:spPr>
        <p:txBody>
          <a:bodyPr wrap="square" lIns="0" tIns="0" rIns="0" bIns="0" rtlCol="0" anchor="t"/>
          <a:lstStyle/>
          <a:p>
            <a:pPr marL="0" indent="0">
              <a:lnSpc>
                <a:spcPts val="1890"/>
              </a:lnSpc>
              <a:buNone/>
            </a:pPr>
            <a:r>
              <a:rPr lang="en-US" sz="1350" dirty="0">
                <a:solidFill>
                  <a:srgbClr val="475569"/>
                </a:solidFill>
                <a:latin typeface="Arial" pitchFamily="34" charset="0"/>
                <a:ea typeface="Arial" pitchFamily="34" charset="-122"/>
                <a:cs typeface="Arial" pitchFamily="34" charset="-120"/>
              </a:rPr>
              <a:t>La blockchain introduce un'infrastruttura condivisa e append-only dove ogni transazione è firmata crittograficamente e ha un timestamp verificabile.</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09600" y="1882141"/>
          <a:ext cx="7924800" cy="2057400"/>
        </p:xfrm>
        <a:graphic>
          <a:graphicData uri="http://schemas.openxmlformats.org/drawingml/2006/table">
            <a:tbl>
              <a:tblPr/>
              <a:tblGrid>
                <a:gridCol w="3962400">
                  <a:extLst>
                    <a:ext uri="{9D8B030D-6E8A-4147-A177-3AD203B41FA5}">
                      <a16:colId xmlns:a16="http://schemas.microsoft.com/office/drawing/2014/main" val="20000"/>
                    </a:ext>
                  </a:extLst>
                </a:gridCol>
                <a:gridCol w="3962400">
                  <a:extLst>
                    <a:ext uri="{9D8B030D-6E8A-4147-A177-3AD203B41FA5}">
                      <a16:colId xmlns:a16="http://schemas.microsoft.com/office/drawing/2014/main" val="20001"/>
                    </a:ext>
                  </a:extLst>
                </a:gridCol>
              </a:tblGrid>
              <a:tr h="411480">
                <a:tc>
                  <a:txBody>
                    <a:bodyPr/>
                    <a:lstStyle/>
                    <a:p>
                      <a:pPr marL="0" indent="0" algn="l">
                        <a:buNone/>
                      </a:pPr>
                      <a:r>
                        <a:rPr lang="en-US" sz="1200" b="1" dirty="0">
                          <a:solidFill>
                            <a:srgbClr val="0284C7"/>
                          </a:solidFill>
                          <a:latin typeface="Arial" pitchFamily="34" charset="0"/>
                          <a:ea typeface="Arial" pitchFamily="34" charset="-122"/>
                          <a:cs typeface="Arial" pitchFamily="34" charset="-120"/>
                        </a:rPr>
                        <a:t>Obiettivo</a:t>
                      </a:r>
                      <a:endParaRPr lang="en-US" sz="1200" dirty="0">
                        <a:latin typeface="Arial" charset="0"/>
                        <a:ea typeface="Arial" charset="0"/>
                        <a:cs typeface="Arial" charset="0"/>
                      </a:endParaRPr>
                    </a:p>
                  </a:txBody>
                  <a:tcPr anchor="ctr">
                    <a:lnL w="0" cap="flat" cmpd="sng" algn="ctr">
                      <a:noFill/>
                    </a:lnL>
                    <a:lnR w="0" cap="flat" cmpd="sng" algn="ctr">
                      <a:noFill/>
                    </a:lnR>
                    <a:lnT w="0" cap="flat" cmpd="sng" algn="ctr">
                      <a:noFill/>
                    </a:lnT>
                    <a:lnB w="12700" cap="flat" cmpd="sng" algn="ctr">
                      <a:solidFill>
                        <a:srgbClr val="E2E8F0"/>
                      </a:solidFill>
                      <a:prstDash val="solid"/>
                      <a:round/>
                      <a:headEnd type="none" w="med" len="med"/>
                      <a:tailEnd type="none" w="med" len="med"/>
                    </a:lnB>
                    <a:solidFill>
                      <a:srgbClr val="F1F5F9"/>
                    </a:solidFill>
                  </a:tcPr>
                </a:tc>
                <a:tc>
                  <a:txBody>
                    <a:bodyPr/>
                    <a:lstStyle/>
                    <a:p>
                      <a:pPr marL="0" indent="0" algn="l">
                        <a:buNone/>
                      </a:pPr>
                      <a:r>
                        <a:rPr lang="en-US" sz="1200" b="1" dirty="0">
                          <a:solidFill>
                            <a:srgbClr val="0284C7"/>
                          </a:solidFill>
                          <a:latin typeface="Arial" pitchFamily="34" charset="0"/>
                          <a:ea typeface="Arial" pitchFamily="34" charset="-122"/>
                          <a:cs typeface="Arial" pitchFamily="34" charset="-120"/>
                        </a:rPr>
                        <a:t>Implementazione</a:t>
                      </a:r>
                      <a:endParaRPr lang="en-US" sz="1200" dirty="0">
                        <a:latin typeface="Arial" charset="0"/>
                        <a:ea typeface="Arial" charset="0"/>
                        <a:cs typeface="Arial" charset="0"/>
                      </a:endParaRPr>
                    </a:p>
                  </a:txBody>
                  <a:tcPr anchor="ctr">
                    <a:lnL w="0" cap="flat" cmpd="sng" algn="ctr">
                      <a:noFill/>
                    </a:lnL>
                    <a:lnR w="0" cap="flat" cmpd="sng" algn="ctr">
                      <a:noFill/>
                    </a:lnR>
                    <a:lnT w="0" cap="flat" cmpd="sng" algn="ctr">
                      <a:noFill/>
                    </a:lnT>
                    <a:lnB w="1270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0"/>
                  </a:ext>
                </a:extLst>
              </a:tr>
              <a:tr h="411480">
                <a:tc>
                  <a:txBody>
                    <a:bodyPr/>
                    <a:lstStyle/>
                    <a:p>
                      <a:pPr marL="0" indent="0">
                        <a:buNone/>
                      </a:pPr>
                      <a:r>
                        <a:rPr lang="en-US" sz="1200" dirty="0">
                          <a:solidFill>
                            <a:srgbClr val="475569"/>
                          </a:solidFill>
                          <a:latin typeface="Arial" pitchFamily="34" charset="0"/>
                          <a:ea typeface="Arial" pitchFamily="34" charset="-122"/>
                          <a:cs typeface="Arial" pitchFamily="34" charset="-120"/>
                        </a:rPr>
                        <a:t>Modello dati espressivo</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Struct per aree, operatori ed eventi</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411480">
                <a:tc>
                  <a:txBody>
                    <a:bodyPr/>
                    <a:lstStyle/>
                    <a:p>
                      <a:pPr marL="0" indent="0">
                        <a:buNone/>
                      </a:pPr>
                      <a:r>
                        <a:rPr lang="en-US" sz="1200" dirty="0">
                          <a:solidFill>
                            <a:srgbClr val="475569"/>
                          </a:solidFill>
                          <a:latin typeface="Arial" pitchFamily="34" charset="0"/>
                          <a:ea typeface="Arial" pitchFamily="34" charset="-122"/>
                          <a:cs typeface="Arial" pitchFamily="34" charset="-120"/>
                        </a:rPr>
                        <a:t>Traccia immutabile</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Smart contract su blockchain</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extLst>
                  <a:ext uri="{0D108BD9-81ED-4DB2-BD59-A6C34878D82A}">
                    <a16:rowId xmlns:a16="http://schemas.microsoft.com/office/drawing/2014/main" val="10002"/>
                  </a:ext>
                </a:extLst>
              </a:tr>
              <a:tr h="411480">
                <a:tc>
                  <a:txBody>
                    <a:bodyPr/>
                    <a:lstStyle/>
                    <a:p>
                      <a:pPr marL="0" indent="0">
                        <a:buNone/>
                      </a:pPr>
                      <a:r>
                        <a:rPr lang="en-US" sz="1200" dirty="0">
                          <a:solidFill>
                            <a:srgbClr val="475569"/>
                          </a:solidFill>
                          <a:latin typeface="Arial" pitchFamily="34" charset="0"/>
                          <a:ea typeface="Arial" pitchFamily="34" charset="-122"/>
                          <a:cs typeface="Arial" pitchFamily="34" charset="-120"/>
                        </a:rPr>
                        <a:t>Identità verificabile</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Indirizzo Ethereum dell'operatore</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411480">
                <a:tc>
                  <a:txBody>
                    <a:bodyPr/>
                    <a:lstStyle/>
                    <a:p>
                      <a:pPr marL="0" indent="0">
                        <a:buNone/>
                      </a:pPr>
                      <a:r>
                        <a:rPr lang="en-US" sz="1200" dirty="0">
                          <a:solidFill>
                            <a:srgbClr val="475569"/>
                          </a:solidFill>
                          <a:latin typeface="Arial" pitchFamily="34" charset="0"/>
                          <a:ea typeface="Arial" pitchFamily="34" charset="-122"/>
                          <a:cs typeface="Arial" pitchFamily="34" charset="-120"/>
                        </a:rPr>
                        <a:t>Accessibilità</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DApp web senza strumenti sviluppatore</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extLst>
                  <a:ext uri="{0D108BD9-81ED-4DB2-BD59-A6C34878D82A}">
                    <a16:rowId xmlns:a16="http://schemas.microsoft.com/office/drawing/2014/main" val="10004"/>
                  </a:ext>
                </a:extLst>
              </a:tr>
            </a:tbl>
          </a:graphicData>
        </a:graphic>
      </p:graphicFrame>
      <p:sp>
        <p:nvSpPr>
          <p:cNvPr id="3" name="Text 0"/>
          <p:cNvSpPr/>
          <p:nvPr/>
        </p:nvSpPr>
        <p:spPr>
          <a:xfrm>
            <a:off x="609600" y="609600"/>
            <a:ext cx="8083296" cy="411480"/>
          </a:xfrm>
          <a:prstGeom prst="rect">
            <a:avLst/>
          </a:prstGeom>
          <a:noFill/>
          <a:ln/>
        </p:spPr>
        <p:txBody>
          <a:bodyPr wrap="square" lIns="0" tIns="0" rIns="0" bIns="0" rtlCol="0" anchor="t"/>
          <a:lstStyle/>
          <a:p>
            <a:pPr marL="0" indent="0">
              <a:lnSpc>
                <a:spcPts val="3240"/>
              </a:lnSpc>
              <a:buNone/>
            </a:pPr>
            <a:r>
              <a:rPr lang="en-US" sz="2700" b="1" dirty="0">
                <a:solidFill>
                  <a:srgbClr val="0284C7"/>
                </a:solidFill>
                <a:latin typeface="Arial" pitchFamily="34" charset="0"/>
                <a:ea typeface="Arial" pitchFamily="34" charset="-122"/>
                <a:cs typeface="Arial" pitchFamily="34" charset="-120"/>
              </a:rPr>
              <a:t>Obiettivi del Progetto</a:t>
            </a:r>
            <a:endParaRPr lang="en-US" sz="2700" dirty="0"/>
          </a:p>
        </p:txBody>
      </p:sp>
      <p:sp>
        <p:nvSpPr>
          <p:cNvPr id="4" name="Text 1"/>
          <p:cNvSpPr/>
          <p:nvPr/>
        </p:nvSpPr>
        <p:spPr>
          <a:xfrm>
            <a:off x="609600" y="1249680"/>
            <a:ext cx="7924800" cy="480060"/>
          </a:xfrm>
          <a:prstGeom prst="rect">
            <a:avLst/>
          </a:prstGeom>
          <a:noFill/>
          <a:ln/>
        </p:spPr>
        <p:txBody>
          <a:bodyPr wrap="square" lIns="0" tIns="0" rIns="0" bIns="0" rtlCol="0" anchor="t"/>
          <a:lstStyle/>
          <a:p>
            <a:pPr marL="0" indent="0">
              <a:lnSpc>
                <a:spcPts val="1890"/>
              </a:lnSpc>
              <a:buNone/>
            </a:pPr>
            <a:r>
              <a:rPr lang="en-US" sz="1350" dirty="0">
                <a:solidFill>
                  <a:srgbClr val="475569"/>
                </a:solidFill>
                <a:latin typeface="Arial" pitchFamily="34" charset="0"/>
                <a:ea typeface="Arial" pitchFamily="34" charset="-122"/>
                <a:cs typeface="Arial" pitchFamily="34" charset="-120"/>
              </a:rPr>
              <a:t>Il progetto si pone obiettivi chiari per garantire tracciabilità, sicurezza e facilità d'uso nel contesto ospedaliero.</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1882141"/>
            <a:ext cx="7924800" cy="1051560"/>
          </a:xfrm>
          <a:prstGeom prst="rect">
            <a:avLst/>
          </a:prstGeom>
          <a:solidFill>
            <a:srgbClr val="F1F5F9"/>
          </a:solidFill>
          <a:ln/>
        </p:spPr>
        <p:txBody>
          <a:bodyPr wrap="none" lIns="0" tIns="0" rIns="0" bIns="0" rtlCol="0" anchor="ctr">
            <a:normAutofit/>
          </a:bodyPr>
          <a:lstStyle/>
          <a:p>
            <a:pPr marL="0" indent="0">
              <a:buNone/>
            </a:pPr>
            <a:endParaRPr lang="en-US" dirty="0"/>
          </a:p>
        </p:txBody>
      </p:sp>
      <p:sp>
        <p:nvSpPr>
          <p:cNvPr id="3" name="Text 1"/>
          <p:cNvSpPr/>
          <p:nvPr/>
        </p:nvSpPr>
        <p:spPr>
          <a:xfrm>
            <a:off x="609600" y="2933700"/>
            <a:ext cx="7924800" cy="1051560"/>
          </a:xfrm>
          <a:prstGeom prst="rect">
            <a:avLst/>
          </a:prstGeom>
          <a:solidFill>
            <a:srgbClr val="F1F5F9"/>
          </a:solidFill>
          <a:ln/>
        </p:spPr>
        <p:txBody>
          <a:bodyPr wrap="none" lIns="0" tIns="0" rIns="0" bIns="0" rtlCol="0" anchor="ctr">
            <a:normAutofit/>
          </a:bodyPr>
          <a:lstStyle/>
          <a:p>
            <a:pPr marL="0" indent="0">
              <a:buNone/>
            </a:pPr>
            <a:endParaRPr lang="en-US" dirty="0"/>
          </a:p>
        </p:txBody>
      </p:sp>
      <p:sp>
        <p:nvSpPr>
          <p:cNvPr id="4" name="Text 2"/>
          <p:cNvSpPr/>
          <p:nvPr/>
        </p:nvSpPr>
        <p:spPr>
          <a:xfrm>
            <a:off x="609600" y="609600"/>
            <a:ext cx="8083296" cy="411480"/>
          </a:xfrm>
          <a:prstGeom prst="rect">
            <a:avLst/>
          </a:prstGeom>
          <a:noFill/>
          <a:ln/>
        </p:spPr>
        <p:txBody>
          <a:bodyPr wrap="square" lIns="0" tIns="0" rIns="0" bIns="0" rtlCol="0" anchor="t"/>
          <a:lstStyle/>
          <a:p>
            <a:pPr marL="0" indent="0">
              <a:lnSpc>
                <a:spcPts val="3240"/>
              </a:lnSpc>
              <a:buNone/>
            </a:pPr>
            <a:r>
              <a:rPr lang="en-US" sz="2700" b="1" dirty="0">
                <a:solidFill>
                  <a:srgbClr val="0284C7"/>
                </a:solidFill>
                <a:latin typeface="Arial" pitchFamily="34" charset="0"/>
                <a:ea typeface="Arial" pitchFamily="34" charset="-122"/>
                <a:cs typeface="Arial" pitchFamily="34" charset="-120"/>
              </a:rPr>
              <a:t>Valore nel Contesto Ospedaliero</a:t>
            </a:r>
            <a:endParaRPr lang="en-US" sz="2700" dirty="0"/>
          </a:p>
        </p:txBody>
      </p:sp>
      <p:sp>
        <p:nvSpPr>
          <p:cNvPr id="5" name="Text 3"/>
          <p:cNvSpPr/>
          <p:nvPr/>
        </p:nvSpPr>
        <p:spPr>
          <a:xfrm>
            <a:off x="609600" y="1249680"/>
            <a:ext cx="7924800" cy="480060"/>
          </a:xfrm>
          <a:prstGeom prst="rect">
            <a:avLst/>
          </a:prstGeom>
          <a:noFill/>
          <a:ln/>
        </p:spPr>
        <p:txBody>
          <a:bodyPr wrap="square" lIns="0" tIns="0" rIns="0" bIns="0" rtlCol="0" anchor="t"/>
          <a:lstStyle/>
          <a:p>
            <a:pPr marL="0" indent="0">
              <a:lnSpc>
                <a:spcPts val="1890"/>
              </a:lnSpc>
              <a:buNone/>
            </a:pPr>
            <a:r>
              <a:rPr lang="en-US" sz="1350" dirty="0">
                <a:solidFill>
                  <a:srgbClr val="475569"/>
                </a:solidFill>
                <a:latin typeface="Arial" pitchFamily="34" charset="0"/>
                <a:ea typeface="Arial" pitchFamily="34" charset="-122"/>
                <a:cs typeface="Arial" pitchFamily="34" charset="-120"/>
              </a:rPr>
              <a:t>Nel contesto ospedaliero reale, la tracciabilità delle sanificazioni ha un impatto diretto su sicurezza, conformità normativa e gestione del rischio clinico.</a:t>
            </a:r>
            <a:endParaRPr lang="en-US" sz="1350" dirty="0"/>
          </a:p>
        </p:txBody>
      </p:sp>
      <p:sp>
        <p:nvSpPr>
          <p:cNvPr id="6" name="Text 4"/>
          <p:cNvSpPr/>
          <p:nvPr/>
        </p:nvSpPr>
        <p:spPr>
          <a:xfrm>
            <a:off x="838200" y="2110741"/>
            <a:ext cx="7616952" cy="228600"/>
          </a:xfrm>
          <a:prstGeom prst="rect">
            <a:avLst/>
          </a:prstGeom>
          <a:noFill/>
          <a:ln/>
        </p:spPr>
        <p:txBody>
          <a:bodyPr wrap="square" lIns="0" tIns="0" rIns="0" bIns="0" rtlCol="0" anchor="t"/>
          <a:lstStyle/>
          <a:p>
            <a:pPr marL="0" indent="0">
              <a:lnSpc>
                <a:spcPts val="1800"/>
              </a:lnSpc>
              <a:buNone/>
            </a:pPr>
            <a:r>
              <a:rPr lang="en-US" sz="1500" b="1" dirty="0">
                <a:solidFill>
                  <a:srgbClr val="0284C7"/>
                </a:solidFill>
                <a:latin typeface="Arial" pitchFamily="34" charset="0"/>
                <a:ea typeface="Arial" pitchFamily="34" charset="-122"/>
                <a:cs typeface="Arial" pitchFamily="34" charset="-120"/>
              </a:rPr>
              <a:t>Sicurezza Paziente</a:t>
            </a:r>
            <a:endParaRPr lang="en-US" sz="1500" dirty="0"/>
          </a:p>
        </p:txBody>
      </p:sp>
      <p:sp>
        <p:nvSpPr>
          <p:cNvPr id="7" name="Text 5"/>
          <p:cNvSpPr/>
          <p:nvPr/>
        </p:nvSpPr>
        <p:spPr>
          <a:xfrm>
            <a:off x="838200" y="2491741"/>
            <a:ext cx="7616952" cy="213360"/>
          </a:xfrm>
          <a:prstGeom prst="rect">
            <a:avLst/>
          </a:prstGeom>
          <a:noFill/>
          <a:ln/>
        </p:spPr>
        <p:txBody>
          <a:bodyPr wrap="square" lIns="0" tIns="0" rIns="0" bIns="0" rtlCol="0" anchor="t"/>
          <a:lstStyle/>
          <a:p>
            <a:pPr marL="0" indent="0">
              <a:lnSpc>
                <a:spcPts val="1680"/>
              </a:lnSpc>
              <a:buNone/>
            </a:pPr>
            <a:r>
              <a:rPr lang="en-US" sz="1200" dirty="0">
                <a:solidFill>
                  <a:srgbClr val="475569"/>
                </a:solidFill>
                <a:latin typeface="Arial" pitchFamily="34" charset="0"/>
                <a:ea typeface="Arial" pitchFamily="34" charset="-122"/>
                <a:cs typeface="Arial" pitchFamily="34" charset="-120"/>
              </a:rPr>
              <a:t>Ogni sala operatoria può dimostrare quando è stata sanificata, da chi e con quali modalità</a:t>
            </a:r>
            <a:endParaRPr lang="en-US" sz="1200" dirty="0"/>
          </a:p>
        </p:txBody>
      </p:sp>
      <p:sp>
        <p:nvSpPr>
          <p:cNvPr id="8" name="Text 6"/>
          <p:cNvSpPr/>
          <p:nvPr/>
        </p:nvSpPr>
        <p:spPr>
          <a:xfrm>
            <a:off x="838200" y="3162300"/>
            <a:ext cx="7616952" cy="228600"/>
          </a:xfrm>
          <a:prstGeom prst="rect">
            <a:avLst/>
          </a:prstGeom>
          <a:noFill/>
          <a:ln/>
        </p:spPr>
        <p:txBody>
          <a:bodyPr wrap="square" lIns="0" tIns="0" rIns="0" bIns="0" rtlCol="0" anchor="t"/>
          <a:lstStyle/>
          <a:p>
            <a:pPr marL="0" indent="0">
              <a:lnSpc>
                <a:spcPts val="1800"/>
              </a:lnSpc>
              <a:buNone/>
            </a:pPr>
            <a:r>
              <a:rPr lang="en-US" sz="1500" b="1" dirty="0">
                <a:solidFill>
                  <a:srgbClr val="0284C7"/>
                </a:solidFill>
                <a:latin typeface="Arial" pitchFamily="34" charset="0"/>
                <a:ea typeface="Arial" pitchFamily="34" charset="-122"/>
                <a:cs typeface="Arial" pitchFamily="34" charset="-120"/>
              </a:rPr>
              <a:t>Conformità Normativa</a:t>
            </a:r>
            <a:endParaRPr lang="en-US" sz="1500" dirty="0"/>
          </a:p>
        </p:txBody>
      </p:sp>
      <p:sp>
        <p:nvSpPr>
          <p:cNvPr id="9" name="Text 7"/>
          <p:cNvSpPr/>
          <p:nvPr/>
        </p:nvSpPr>
        <p:spPr>
          <a:xfrm>
            <a:off x="838200" y="3543300"/>
            <a:ext cx="7616952" cy="213360"/>
          </a:xfrm>
          <a:prstGeom prst="rect">
            <a:avLst/>
          </a:prstGeom>
          <a:noFill/>
          <a:ln/>
        </p:spPr>
        <p:txBody>
          <a:bodyPr wrap="square" lIns="0" tIns="0" rIns="0" bIns="0" rtlCol="0" anchor="t"/>
          <a:lstStyle/>
          <a:p>
            <a:pPr marL="0" indent="0">
              <a:lnSpc>
                <a:spcPts val="1680"/>
              </a:lnSpc>
              <a:buNone/>
            </a:pPr>
            <a:r>
              <a:rPr lang="en-US" sz="1200" dirty="0">
                <a:solidFill>
                  <a:srgbClr val="475569"/>
                </a:solidFill>
                <a:latin typeface="Arial" pitchFamily="34" charset="0"/>
                <a:ea typeface="Arial" pitchFamily="34" charset="-122"/>
                <a:cs typeface="Arial" pitchFamily="34" charset="-120"/>
              </a:rPr>
              <a:t>Audit trail ad alta affidabilità per ispezioni e procedure di accreditamento</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09600" y="1249680"/>
          <a:ext cx="7924800" cy="2438400"/>
        </p:xfrm>
        <a:graphic>
          <a:graphicData uri="http://schemas.openxmlformats.org/drawingml/2006/table">
            <a:tbl>
              <a:tblPr/>
              <a:tblGrid>
                <a:gridCol w="3962400">
                  <a:extLst>
                    <a:ext uri="{9D8B030D-6E8A-4147-A177-3AD203B41FA5}">
                      <a16:colId xmlns:a16="http://schemas.microsoft.com/office/drawing/2014/main" val="20000"/>
                    </a:ext>
                  </a:extLst>
                </a:gridCol>
                <a:gridCol w="3962400">
                  <a:extLst>
                    <a:ext uri="{9D8B030D-6E8A-4147-A177-3AD203B41FA5}">
                      <a16:colId xmlns:a16="http://schemas.microsoft.com/office/drawing/2014/main" val="20001"/>
                    </a:ext>
                  </a:extLst>
                </a:gridCol>
              </a:tblGrid>
              <a:tr h="487680">
                <a:tc>
                  <a:txBody>
                    <a:bodyPr/>
                    <a:lstStyle/>
                    <a:p>
                      <a:pPr marL="0" indent="0" algn="l">
                        <a:buNone/>
                      </a:pPr>
                      <a:r>
                        <a:rPr lang="en-US" sz="1200" b="1" dirty="0">
                          <a:solidFill>
                            <a:srgbClr val="0284C7"/>
                          </a:solidFill>
                          <a:latin typeface="Arial" pitchFamily="34" charset="0"/>
                          <a:ea typeface="Arial" pitchFamily="34" charset="-122"/>
                          <a:cs typeface="Arial" pitchFamily="34" charset="-120"/>
                        </a:rPr>
                        <a:t>Componente</a:t>
                      </a:r>
                      <a:endParaRPr lang="en-US" sz="1200" dirty="0">
                        <a:latin typeface="Arial" charset="0"/>
                        <a:ea typeface="Arial" charset="0"/>
                        <a:cs typeface="Arial" charset="0"/>
                      </a:endParaRPr>
                    </a:p>
                  </a:txBody>
                  <a:tcPr anchor="ctr">
                    <a:lnL w="0" cap="flat" cmpd="sng" algn="ctr">
                      <a:noFill/>
                    </a:lnL>
                    <a:lnR w="0" cap="flat" cmpd="sng" algn="ctr">
                      <a:noFill/>
                    </a:lnR>
                    <a:lnT w="0" cap="flat" cmpd="sng" algn="ctr">
                      <a:noFill/>
                    </a:lnT>
                    <a:lnB w="12700" cap="flat" cmpd="sng" algn="ctr">
                      <a:solidFill>
                        <a:srgbClr val="E2E8F0"/>
                      </a:solidFill>
                      <a:prstDash val="solid"/>
                      <a:round/>
                      <a:headEnd type="none" w="med" len="med"/>
                      <a:tailEnd type="none" w="med" len="med"/>
                    </a:lnB>
                    <a:solidFill>
                      <a:srgbClr val="F1F5F9"/>
                    </a:solidFill>
                  </a:tcPr>
                </a:tc>
                <a:tc>
                  <a:txBody>
                    <a:bodyPr/>
                    <a:lstStyle/>
                    <a:p>
                      <a:pPr marL="0" indent="0" algn="l">
                        <a:buNone/>
                      </a:pPr>
                      <a:r>
                        <a:rPr lang="en-US" sz="1200" b="1" dirty="0">
                          <a:solidFill>
                            <a:srgbClr val="0284C7"/>
                          </a:solidFill>
                          <a:latin typeface="Arial" pitchFamily="34" charset="0"/>
                          <a:ea typeface="Arial" pitchFamily="34" charset="-122"/>
                          <a:cs typeface="Arial" pitchFamily="34" charset="-120"/>
                        </a:rPr>
                        <a:t>Tecnologia</a:t>
                      </a:r>
                      <a:endParaRPr lang="en-US" sz="1200" dirty="0">
                        <a:latin typeface="Arial" charset="0"/>
                        <a:ea typeface="Arial" charset="0"/>
                        <a:cs typeface="Arial" charset="0"/>
                      </a:endParaRPr>
                    </a:p>
                  </a:txBody>
                  <a:tcPr anchor="ctr">
                    <a:lnL w="0" cap="flat" cmpd="sng" algn="ctr">
                      <a:noFill/>
                    </a:lnL>
                    <a:lnR w="0" cap="flat" cmpd="sng" algn="ctr">
                      <a:noFill/>
                    </a:lnR>
                    <a:lnT w="0" cap="flat" cmpd="sng" algn="ctr">
                      <a:noFill/>
                    </a:lnT>
                    <a:lnB w="1270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0"/>
                  </a:ext>
                </a:extLst>
              </a:tr>
              <a:tr h="487680">
                <a:tc>
                  <a:txBody>
                    <a:bodyPr/>
                    <a:lstStyle/>
                    <a:p>
                      <a:pPr marL="0" indent="0">
                        <a:buNone/>
                      </a:pPr>
                      <a:r>
                        <a:rPr lang="en-US" sz="1200" dirty="0">
                          <a:solidFill>
                            <a:srgbClr val="475569"/>
                          </a:solidFill>
                          <a:latin typeface="Arial" pitchFamily="34" charset="0"/>
                          <a:ea typeface="Arial" pitchFamily="34" charset="-122"/>
                          <a:cs typeface="Arial" pitchFamily="34" charset="-120"/>
                        </a:rPr>
                        <a:t>Smart Contract</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Solidity 0.8.20 su Sepolia</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487680">
                <a:tc>
                  <a:txBody>
                    <a:bodyPr/>
                    <a:lstStyle/>
                    <a:p>
                      <a:pPr marL="0" indent="0">
                        <a:buNone/>
                      </a:pPr>
                      <a:r>
                        <a:rPr lang="en-US" sz="1200" dirty="0">
                          <a:solidFill>
                            <a:srgbClr val="475569"/>
                          </a:solidFill>
                          <a:latin typeface="Arial" pitchFamily="34" charset="0"/>
                          <a:ea typeface="Arial" pitchFamily="34" charset="-122"/>
                          <a:cs typeface="Arial" pitchFamily="34" charset="-120"/>
                        </a:rPr>
                        <a:t>Sviluppo &amp; Test</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Hardhat 2.28.0, Ignition</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extLst>
                  <a:ext uri="{0D108BD9-81ED-4DB2-BD59-A6C34878D82A}">
                    <a16:rowId xmlns:a16="http://schemas.microsoft.com/office/drawing/2014/main" val="10002"/>
                  </a:ext>
                </a:extLst>
              </a:tr>
              <a:tr h="487680">
                <a:tc>
                  <a:txBody>
                    <a:bodyPr/>
                    <a:lstStyle/>
                    <a:p>
                      <a:pPr marL="0" indent="0">
                        <a:buNone/>
                      </a:pPr>
                      <a:r>
                        <a:rPr lang="en-US" sz="1200" dirty="0">
                          <a:solidFill>
                            <a:srgbClr val="475569"/>
                          </a:solidFill>
                          <a:latin typeface="Arial" pitchFamily="34" charset="0"/>
                          <a:ea typeface="Arial" pitchFamily="34" charset="-122"/>
                          <a:cs typeface="Arial" pitchFamily="34" charset="-120"/>
                        </a:rPr>
                        <a:t>Frontend</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Ethers.js, MetaMask, HTML/JS</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487680">
                <a:tc>
                  <a:txBody>
                    <a:bodyPr/>
                    <a:lstStyle/>
                    <a:p>
                      <a:pPr marL="0" indent="0">
                        <a:buNone/>
                      </a:pPr>
                      <a:r>
                        <a:rPr lang="en-US" sz="1200" dirty="0">
                          <a:solidFill>
                            <a:srgbClr val="475569"/>
                          </a:solidFill>
                          <a:latin typeface="Arial" pitchFamily="34" charset="0"/>
                          <a:ea typeface="Arial" pitchFamily="34" charset="-122"/>
                          <a:cs typeface="Arial" pitchFamily="34" charset="-120"/>
                        </a:rPr>
                        <a:t>Provider RPC</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Infura</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extLst>
                  <a:ext uri="{0D108BD9-81ED-4DB2-BD59-A6C34878D82A}">
                    <a16:rowId xmlns:a16="http://schemas.microsoft.com/office/drawing/2014/main" val="10004"/>
                  </a:ext>
                </a:extLst>
              </a:tr>
            </a:tbl>
          </a:graphicData>
        </a:graphic>
      </p:graphicFrame>
      <p:sp>
        <p:nvSpPr>
          <p:cNvPr id="3" name="Text 0"/>
          <p:cNvSpPr/>
          <p:nvPr/>
        </p:nvSpPr>
        <p:spPr>
          <a:xfrm>
            <a:off x="609600" y="609600"/>
            <a:ext cx="8083296" cy="411480"/>
          </a:xfrm>
          <a:prstGeom prst="rect">
            <a:avLst/>
          </a:prstGeom>
          <a:noFill/>
          <a:ln/>
        </p:spPr>
        <p:txBody>
          <a:bodyPr wrap="square" lIns="0" tIns="0" rIns="0" bIns="0" rtlCol="0" anchor="t"/>
          <a:lstStyle/>
          <a:p>
            <a:pPr marL="0" indent="0">
              <a:lnSpc>
                <a:spcPts val="3240"/>
              </a:lnSpc>
              <a:buNone/>
            </a:pPr>
            <a:r>
              <a:rPr lang="en-US" sz="2700" b="1" dirty="0">
                <a:solidFill>
                  <a:srgbClr val="0284C7"/>
                </a:solidFill>
                <a:latin typeface="Arial" pitchFamily="34" charset="0"/>
                <a:ea typeface="Arial" pitchFamily="34" charset="-122"/>
                <a:cs typeface="Arial" pitchFamily="34" charset="-120"/>
              </a:rPr>
              <a:t>Stack Tecnologico</a:t>
            </a:r>
            <a:endParaRPr lang="en-US" sz="2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09600" y="1882141"/>
          <a:ext cx="7924800" cy="1647824"/>
        </p:xfrm>
        <a:graphic>
          <a:graphicData uri="http://schemas.openxmlformats.org/drawingml/2006/table">
            <a:tbl>
              <a:tblPr/>
              <a:tblGrid>
                <a:gridCol w="3962400">
                  <a:extLst>
                    <a:ext uri="{9D8B030D-6E8A-4147-A177-3AD203B41FA5}">
                      <a16:colId xmlns:a16="http://schemas.microsoft.com/office/drawing/2014/main" val="20000"/>
                    </a:ext>
                  </a:extLst>
                </a:gridCol>
                <a:gridCol w="3962400">
                  <a:extLst>
                    <a:ext uri="{9D8B030D-6E8A-4147-A177-3AD203B41FA5}">
                      <a16:colId xmlns:a16="http://schemas.microsoft.com/office/drawing/2014/main" val="20001"/>
                    </a:ext>
                  </a:extLst>
                </a:gridCol>
              </a:tblGrid>
              <a:tr h="411956">
                <a:tc>
                  <a:txBody>
                    <a:bodyPr/>
                    <a:lstStyle/>
                    <a:p>
                      <a:pPr marL="0" indent="0" algn="l">
                        <a:buNone/>
                      </a:pPr>
                      <a:r>
                        <a:rPr lang="en-US" sz="1200" b="1" dirty="0">
                          <a:solidFill>
                            <a:srgbClr val="0284C7"/>
                          </a:solidFill>
                          <a:latin typeface="Arial" pitchFamily="34" charset="0"/>
                          <a:ea typeface="Arial" pitchFamily="34" charset="-122"/>
                          <a:cs typeface="Arial" pitchFamily="34" charset="-120"/>
                        </a:rPr>
                        <a:t>Componente</a:t>
                      </a:r>
                      <a:endParaRPr lang="en-US" sz="1200" dirty="0">
                        <a:latin typeface="Arial" charset="0"/>
                        <a:ea typeface="Arial" charset="0"/>
                        <a:cs typeface="Arial" charset="0"/>
                      </a:endParaRPr>
                    </a:p>
                  </a:txBody>
                  <a:tcPr anchor="ctr">
                    <a:lnL w="0" cap="flat" cmpd="sng" algn="ctr">
                      <a:noFill/>
                    </a:lnL>
                    <a:lnR w="0" cap="flat" cmpd="sng" algn="ctr">
                      <a:noFill/>
                    </a:lnR>
                    <a:lnT w="0" cap="flat" cmpd="sng" algn="ctr">
                      <a:noFill/>
                    </a:lnT>
                    <a:lnB w="12700" cap="flat" cmpd="sng" algn="ctr">
                      <a:solidFill>
                        <a:srgbClr val="E2E8F0"/>
                      </a:solidFill>
                      <a:prstDash val="solid"/>
                      <a:round/>
                      <a:headEnd type="none" w="med" len="med"/>
                      <a:tailEnd type="none" w="med" len="med"/>
                    </a:lnB>
                    <a:solidFill>
                      <a:srgbClr val="F1F5F9"/>
                    </a:solidFill>
                  </a:tcPr>
                </a:tc>
                <a:tc>
                  <a:txBody>
                    <a:bodyPr/>
                    <a:lstStyle/>
                    <a:p>
                      <a:pPr marL="0" indent="0" algn="l">
                        <a:buNone/>
                      </a:pPr>
                      <a:r>
                        <a:rPr lang="en-US" sz="1200" b="1" dirty="0">
                          <a:solidFill>
                            <a:srgbClr val="0284C7"/>
                          </a:solidFill>
                          <a:latin typeface="Arial" pitchFamily="34" charset="0"/>
                          <a:ea typeface="Arial" pitchFamily="34" charset="-122"/>
                          <a:cs typeface="Arial" pitchFamily="34" charset="-120"/>
                        </a:rPr>
                        <a:t>Descrizione</a:t>
                      </a:r>
                      <a:endParaRPr lang="en-US" sz="1200" dirty="0">
                        <a:latin typeface="Arial" charset="0"/>
                        <a:ea typeface="Arial" charset="0"/>
                        <a:cs typeface="Arial" charset="0"/>
                      </a:endParaRPr>
                    </a:p>
                  </a:txBody>
                  <a:tcPr anchor="ctr">
                    <a:lnL w="0" cap="flat" cmpd="sng" algn="ctr">
                      <a:noFill/>
                    </a:lnL>
                    <a:lnR w="0" cap="flat" cmpd="sng" algn="ctr">
                      <a:noFill/>
                    </a:lnR>
                    <a:lnT w="0" cap="flat" cmpd="sng" algn="ctr">
                      <a:noFill/>
                    </a:lnT>
                    <a:lnB w="1270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0"/>
                  </a:ext>
                </a:extLst>
              </a:tr>
              <a:tr h="411956">
                <a:tc>
                  <a:txBody>
                    <a:bodyPr/>
                    <a:lstStyle/>
                    <a:p>
                      <a:pPr marL="0" indent="0">
                        <a:buNone/>
                      </a:pPr>
                      <a:r>
                        <a:rPr lang="en-US" sz="1200" dirty="0">
                          <a:solidFill>
                            <a:srgbClr val="475569"/>
                          </a:solidFill>
                          <a:latin typeface="Arial" pitchFamily="34" charset="0"/>
                          <a:ea typeface="Arial" pitchFamily="34" charset="-122"/>
                          <a:cs typeface="Arial" pitchFamily="34" charset="-120"/>
                        </a:rPr>
                        <a:t>EVM</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Macchina virtuale per esecuzione contratti</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411956">
                <a:tc>
                  <a:txBody>
                    <a:bodyPr/>
                    <a:lstStyle/>
                    <a:p>
                      <a:pPr marL="0" indent="0">
                        <a:buNone/>
                      </a:pPr>
                      <a:r>
                        <a:rPr lang="en-US" sz="1200" dirty="0">
                          <a:solidFill>
                            <a:srgbClr val="475569"/>
                          </a:solidFill>
                          <a:latin typeface="Arial" pitchFamily="34" charset="0"/>
                          <a:ea typeface="Arial" pitchFamily="34" charset="-122"/>
                          <a:cs typeface="Arial" pitchFamily="34" charset="-120"/>
                        </a:rPr>
                        <a:t>Smart Contract</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Programmi immutabili con regole codificate</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extLst>
                  <a:ext uri="{0D108BD9-81ED-4DB2-BD59-A6C34878D82A}">
                    <a16:rowId xmlns:a16="http://schemas.microsoft.com/office/drawing/2014/main" val="10002"/>
                  </a:ext>
                </a:extLst>
              </a:tr>
              <a:tr h="411956">
                <a:tc>
                  <a:txBody>
                    <a:bodyPr/>
                    <a:lstStyle/>
                    <a:p>
                      <a:pPr marL="0" indent="0">
                        <a:buNone/>
                      </a:pPr>
                      <a:r>
                        <a:rPr lang="en-US" sz="1200" dirty="0">
                          <a:solidFill>
                            <a:srgbClr val="475569"/>
                          </a:solidFill>
                          <a:latin typeface="Arial" pitchFamily="34" charset="0"/>
                          <a:ea typeface="Arial" pitchFamily="34" charset="-122"/>
                          <a:cs typeface="Arial" pitchFamily="34" charset="-120"/>
                        </a:rPr>
                        <a:t>Solidity 0.8.20</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Linguaggio tipizzato per sviluppo</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3" name="Text 0"/>
          <p:cNvSpPr/>
          <p:nvPr/>
        </p:nvSpPr>
        <p:spPr>
          <a:xfrm>
            <a:off x="609600" y="609600"/>
            <a:ext cx="8083296" cy="411480"/>
          </a:xfrm>
          <a:prstGeom prst="rect">
            <a:avLst/>
          </a:prstGeom>
          <a:noFill/>
          <a:ln/>
        </p:spPr>
        <p:txBody>
          <a:bodyPr wrap="square" lIns="0" tIns="0" rIns="0" bIns="0" rtlCol="0" anchor="t"/>
          <a:lstStyle/>
          <a:p>
            <a:pPr marL="0" indent="0">
              <a:lnSpc>
                <a:spcPts val="3240"/>
              </a:lnSpc>
              <a:buNone/>
            </a:pPr>
            <a:r>
              <a:rPr lang="en-US" sz="2700" b="1" dirty="0">
                <a:solidFill>
                  <a:srgbClr val="0284C7"/>
                </a:solidFill>
                <a:latin typeface="Arial" pitchFamily="34" charset="0"/>
                <a:ea typeface="Arial" pitchFamily="34" charset="-122"/>
                <a:cs typeface="Arial" pitchFamily="34" charset="-120"/>
              </a:rPr>
              <a:t>Ethereum e Smart Contract</a:t>
            </a:r>
            <a:endParaRPr lang="en-US" sz="2700" dirty="0"/>
          </a:p>
        </p:txBody>
      </p:sp>
      <p:sp>
        <p:nvSpPr>
          <p:cNvPr id="4" name="Text 1"/>
          <p:cNvSpPr/>
          <p:nvPr/>
        </p:nvSpPr>
        <p:spPr>
          <a:xfrm>
            <a:off x="609600" y="1249680"/>
            <a:ext cx="7924800" cy="480060"/>
          </a:xfrm>
          <a:prstGeom prst="rect">
            <a:avLst/>
          </a:prstGeom>
          <a:noFill/>
          <a:ln/>
        </p:spPr>
        <p:txBody>
          <a:bodyPr wrap="square" lIns="0" tIns="0" rIns="0" bIns="0" rtlCol="0" anchor="t"/>
          <a:lstStyle/>
          <a:p>
            <a:pPr marL="0" indent="0">
              <a:lnSpc>
                <a:spcPts val="1890"/>
              </a:lnSpc>
              <a:buNone/>
            </a:pPr>
            <a:r>
              <a:rPr lang="en-US" sz="1350" dirty="0">
                <a:solidFill>
                  <a:srgbClr val="475569"/>
                </a:solidFill>
                <a:latin typeface="Arial" pitchFamily="34" charset="0"/>
                <a:ea typeface="Arial" pitchFamily="34" charset="-122"/>
                <a:cs typeface="Arial" pitchFamily="34" charset="-120"/>
              </a:rPr>
              <a:t>Ethereum è una piattaforma blockchain general purpose che permette di eseguire codice arbitrario (smart contract) con garanzia di esecuzione deterministica.</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09600" y="1882141"/>
          <a:ext cx="7924800" cy="1952625"/>
        </p:xfrm>
        <a:graphic>
          <a:graphicData uri="http://schemas.openxmlformats.org/drawingml/2006/table">
            <a:tbl>
              <a:tblPr/>
              <a:tblGrid>
                <a:gridCol w="3962400">
                  <a:extLst>
                    <a:ext uri="{9D8B030D-6E8A-4147-A177-3AD203B41FA5}">
                      <a16:colId xmlns:a16="http://schemas.microsoft.com/office/drawing/2014/main" val="20000"/>
                    </a:ext>
                  </a:extLst>
                </a:gridCol>
                <a:gridCol w="3962400">
                  <a:extLst>
                    <a:ext uri="{9D8B030D-6E8A-4147-A177-3AD203B41FA5}">
                      <a16:colId xmlns:a16="http://schemas.microsoft.com/office/drawing/2014/main" val="20001"/>
                    </a:ext>
                  </a:extLst>
                </a:gridCol>
              </a:tblGrid>
              <a:tr h="488156">
                <a:tc>
                  <a:txBody>
                    <a:bodyPr/>
                    <a:lstStyle/>
                    <a:p>
                      <a:pPr marL="0" indent="0" algn="l">
                        <a:buNone/>
                      </a:pPr>
                      <a:r>
                        <a:rPr lang="en-US" sz="1200" b="1" dirty="0">
                          <a:solidFill>
                            <a:srgbClr val="0284C7"/>
                          </a:solidFill>
                          <a:latin typeface="Arial" pitchFamily="34" charset="0"/>
                          <a:ea typeface="Arial" pitchFamily="34" charset="-122"/>
                          <a:cs typeface="Arial" pitchFamily="34" charset="-120"/>
                        </a:rPr>
                        <a:t>Livello</a:t>
                      </a:r>
                      <a:endParaRPr lang="en-US" sz="1200" dirty="0">
                        <a:latin typeface="Arial" charset="0"/>
                        <a:ea typeface="Arial" charset="0"/>
                        <a:cs typeface="Arial" charset="0"/>
                      </a:endParaRPr>
                    </a:p>
                  </a:txBody>
                  <a:tcPr anchor="ctr">
                    <a:lnL w="0" cap="flat" cmpd="sng" algn="ctr">
                      <a:noFill/>
                    </a:lnL>
                    <a:lnR w="0" cap="flat" cmpd="sng" algn="ctr">
                      <a:noFill/>
                    </a:lnR>
                    <a:lnT w="0" cap="flat" cmpd="sng" algn="ctr">
                      <a:noFill/>
                    </a:lnT>
                    <a:lnB w="12700" cap="flat" cmpd="sng" algn="ctr">
                      <a:solidFill>
                        <a:srgbClr val="E2E8F0"/>
                      </a:solidFill>
                      <a:prstDash val="solid"/>
                      <a:round/>
                      <a:headEnd type="none" w="med" len="med"/>
                      <a:tailEnd type="none" w="med" len="med"/>
                    </a:lnB>
                    <a:solidFill>
                      <a:srgbClr val="F1F5F9"/>
                    </a:solidFill>
                  </a:tcPr>
                </a:tc>
                <a:tc>
                  <a:txBody>
                    <a:bodyPr/>
                    <a:lstStyle/>
                    <a:p>
                      <a:pPr marL="0" indent="0" algn="l">
                        <a:buNone/>
                      </a:pPr>
                      <a:r>
                        <a:rPr lang="en-US" sz="1200" b="1" dirty="0">
                          <a:solidFill>
                            <a:srgbClr val="0284C7"/>
                          </a:solidFill>
                          <a:latin typeface="Arial" pitchFamily="34" charset="0"/>
                          <a:ea typeface="Arial" pitchFamily="34" charset="-122"/>
                          <a:cs typeface="Arial" pitchFamily="34" charset="-120"/>
                        </a:rPr>
                        <a:t>Componenti</a:t>
                      </a:r>
                      <a:endParaRPr lang="en-US" sz="1200" dirty="0">
                        <a:latin typeface="Arial" charset="0"/>
                        <a:ea typeface="Arial" charset="0"/>
                        <a:cs typeface="Arial" charset="0"/>
                      </a:endParaRPr>
                    </a:p>
                  </a:txBody>
                  <a:tcPr anchor="ctr">
                    <a:lnL w="0" cap="flat" cmpd="sng" algn="ctr">
                      <a:noFill/>
                    </a:lnL>
                    <a:lnR w="0" cap="flat" cmpd="sng" algn="ctr">
                      <a:noFill/>
                    </a:lnR>
                    <a:lnT w="0" cap="flat" cmpd="sng" algn="ctr">
                      <a:noFill/>
                    </a:lnT>
                    <a:lnB w="1270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0"/>
                  </a:ext>
                </a:extLst>
              </a:tr>
              <a:tr h="488156">
                <a:tc>
                  <a:txBody>
                    <a:bodyPr/>
                    <a:lstStyle/>
                    <a:p>
                      <a:pPr marL="0" indent="0">
                        <a:buNone/>
                      </a:pPr>
                      <a:r>
                        <a:rPr lang="en-US" sz="1200" dirty="0">
                          <a:solidFill>
                            <a:srgbClr val="475569"/>
                          </a:solidFill>
                          <a:latin typeface="Arial" pitchFamily="34" charset="0"/>
                          <a:ea typeface="Arial" pitchFamily="34" charset="-122"/>
                          <a:cs typeface="Arial" pitchFamily="34" charset="-120"/>
                        </a:rPr>
                        <a:t>On-chain</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Smart contract su Ethereum Sepolia</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488156">
                <a:tc>
                  <a:txBody>
                    <a:bodyPr/>
                    <a:lstStyle/>
                    <a:p>
                      <a:pPr marL="0" indent="0">
                        <a:buNone/>
                      </a:pPr>
                      <a:r>
                        <a:rPr lang="en-US" sz="1200" dirty="0">
                          <a:solidFill>
                            <a:srgbClr val="475569"/>
                          </a:solidFill>
                          <a:latin typeface="Arial" pitchFamily="34" charset="0"/>
                          <a:ea typeface="Arial" pitchFamily="34" charset="-122"/>
                          <a:cs typeface="Arial" pitchFamily="34" charset="-120"/>
                        </a:rPr>
                        <a:t>Off-chain</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DApp web (HTML/JS) con ethers.js</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extLst>
                  <a:ext uri="{0D108BD9-81ED-4DB2-BD59-A6C34878D82A}">
                    <a16:rowId xmlns:a16="http://schemas.microsoft.com/office/drawing/2014/main" val="10002"/>
                  </a:ext>
                </a:extLst>
              </a:tr>
              <a:tr h="488156">
                <a:tc>
                  <a:txBody>
                    <a:bodyPr/>
                    <a:lstStyle/>
                    <a:p>
                      <a:pPr marL="0" indent="0">
                        <a:buNone/>
                      </a:pPr>
                      <a:r>
                        <a:rPr lang="en-US" sz="1200" dirty="0">
                          <a:solidFill>
                            <a:srgbClr val="475569"/>
                          </a:solidFill>
                          <a:latin typeface="Arial" pitchFamily="34" charset="0"/>
                          <a:ea typeface="Arial" pitchFamily="34" charset="-122"/>
                          <a:cs typeface="Arial" pitchFamily="34" charset="-120"/>
                        </a:rPr>
                        <a:t>Wallet</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MetaMask per account e firma</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3" name="Text 0"/>
          <p:cNvSpPr/>
          <p:nvPr/>
        </p:nvSpPr>
        <p:spPr>
          <a:xfrm>
            <a:off x="609600" y="609600"/>
            <a:ext cx="8083296" cy="411480"/>
          </a:xfrm>
          <a:prstGeom prst="rect">
            <a:avLst/>
          </a:prstGeom>
          <a:noFill/>
          <a:ln/>
        </p:spPr>
        <p:txBody>
          <a:bodyPr wrap="square" lIns="0" tIns="0" rIns="0" bIns="0" rtlCol="0" anchor="t"/>
          <a:lstStyle/>
          <a:p>
            <a:pPr marL="0" indent="0">
              <a:lnSpc>
                <a:spcPts val="3240"/>
              </a:lnSpc>
              <a:buNone/>
            </a:pPr>
            <a:r>
              <a:rPr lang="en-US" sz="2700" b="1" dirty="0">
                <a:solidFill>
                  <a:srgbClr val="0284C7"/>
                </a:solidFill>
                <a:latin typeface="Arial" pitchFamily="34" charset="0"/>
                <a:ea typeface="Arial" pitchFamily="34" charset="-122"/>
                <a:cs typeface="Arial" pitchFamily="34" charset="-120"/>
              </a:rPr>
              <a:t>Architettura del Sistema</a:t>
            </a:r>
            <a:endParaRPr lang="en-US" sz="2700" dirty="0"/>
          </a:p>
        </p:txBody>
      </p:sp>
      <p:sp>
        <p:nvSpPr>
          <p:cNvPr id="4" name="Text 1"/>
          <p:cNvSpPr/>
          <p:nvPr/>
        </p:nvSpPr>
        <p:spPr>
          <a:xfrm>
            <a:off x="609600" y="1249682"/>
            <a:ext cx="7924800" cy="480060"/>
          </a:xfrm>
          <a:prstGeom prst="rect">
            <a:avLst/>
          </a:prstGeom>
          <a:noFill/>
          <a:ln/>
        </p:spPr>
        <p:txBody>
          <a:bodyPr wrap="square" lIns="0" tIns="0" rIns="0" bIns="0" rtlCol="0" anchor="t"/>
          <a:lstStyle/>
          <a:p>
            <a:pPr marL="0" indent="0">
              <a:lnSpc>
                <a:spcPts val="1890"/>
              </a:lnSpc>
              <a:buNone/>
            </a:pPr>
            <a:r>
              <a:rPr lang="en-US" sz="1350" dirty="0">
                <a:solidFill>
                  <a:srgbClr val="475569"/>
                </a:solidFill>
                <a:latin typeface="Arial" pitchFamily="34" charset="0"/>
                <a:ea typeface="Arial" pitchFamily="34" charset="-122"/>
                <a:cs typeface="Arial" pitchFamily="34" charset="-120"/>
              </a:rPr>
              <a:t>L'architettura è volutamente minimale ma copre l'intero flusso: definizione logica su blockchain, interazione tramite wallet e presentazione via web.</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1325882"/>
            <a:ext cx="7924800" cy="1295400"/>
          </a:xfrm>
          <a:prstGeom prst="rect">
            <a:avLst/>
          </a:prstGeom>
          <a:solidFill>
            <a:srgbClr val="F1F5F9"/>
          </a:solidFill>
          <a:ln/>
        </p:spPr>
        <p:txBody>
          <a:bodyPr wrap="none" lIns="0" tIns="0" rIns="0" bIns="0" rtlCol="0" anchor="ctr">
            <a:normAutofit/>
          </a:bodyPr>
          <a:lstStyle/>
          <a:p>
            <a:pPr marL="0" indent="0">
              <a:buNone/>
            </a:pPr>
            <a:endParaRPr lang="en-US" dirty="0"/>
          </a:p>
        </p:txBody>
      </p:sp>
      <p:sp>
        <p:nvSpPr>
          <p:cNvPr id="3" name="Text 1"/>
          <p:cNvSpPr/>
          <p:nvPr/>
        </p:nvSpPr>
        <p:spPr>
          <a:xfrm>
            <a:off x="609600" y="2621282"/>
            <a:ext cx="7924800" cy="1295400"/>
          </a:xfrm>
          <a:prstGeom prst="rect">
            <a:avLst/>
          </a:prstGeom>
          <a:solidFill>
            <a:srgbClr val="F1F5F9"/>
          </a:solidFill>
          <a:ln/>
        </p:spPr>
        <p:txBody>
          <a:bodyPr wrap="none" lIns="0" tIns="0" rIns="0" bIns="0" rtlCol="0" anchor="ctr">
            <a:normAutofit/>
          </a:bodyPr>
          <a:lstStyle/>
          <a:p>
            <a:pPr marL="0" indent="0">
              <a:buNone/>
            </a:pPr>
            <a:endParaRPr lang="en-US" dirty="0"/>
          </a:p>
        </p:txBody>
      </p:sp>
      <p:sp>
        <p:nvSpPr>
          <p:cNvPr id="4" name="Text 2"/>
          <p:cNvSpPr/>
          <p:nvPr/>
        </p:nvSpPr>
        <p:spPr>
          <a:xfrm>
            <a:off x="609600" y="609600"/>
            <a:ext cx="8083296" cy="411480"/>
          </a:xfrm>
          <a:prstGeom prst="rect">
            <a:avLst/>
          </a:prstGeom>
          <a:noFill/>
          <a:ln/>
        </p:spPr>
        <p:txBody>
          <a:bodyPr wrap="square" lIns="0" tIns="0" rIns="0" bIns="0" rtlCol="0" anchor="t"/>
          <a:lstStyle/>
          <a:p>
            <a:pPr marL="0" indent="0">
              <a:lnSpc>
                <a:spcPts val="3240"/>
              </a:lnSpc>
              <a:buNone/>
            </a:pPr>
            <a:r>
              <a:rPr lang="en-US" sz="2700" b="1" dirty="0">
                <a:solidFill>
                  <a:srgbClr val="0284C7"/>
                </a:solidFill>
                <a:latin typeface="Arial" pitchFamily="34" charset="0"/>
                <a:ea typeface="Arial" pitchFamily="34" charset="-122"/>
                <a:cs typeface="Arial" pitchFamily="34" charset="-120"/>
              </a:rPr>
              <a:t>Ruoli del Sistema</a:t>
            </a:r>
            <a:endParaRPr lang="en-US" sz="2700" dirty="0"/>
          </a:p>
        </p:txBody>
      </p:sp>
      <p:sp>
        <p:nvSpPr>
          <p:cNvPr id="5" name="Text 3"/>
          <p:cNvSpPr/>
          <p:nvPr/>
        </p:nvSpPr>
        <p:spPr>
          <a:xfrm>
            <a:off x="914400" y="1630682"/>
            <a:ext cx="7461504" cy="320040"/>
          </a:xfrm>
          <a:prstGeom prst="rect">
            <a:avLst/>
          </a:prstGeom>
          <a:noFill/>
          <a:ln/>
        </p:spPr>
        <p:txBody>
          <a:bodyPr wrap="square" lIns="0" tIns="0" rIns="0" bIns="0" rtlCol="0" anchor="t"/>
          <a:lstStyle/>
          <a:p>
            <a:pPr marL="0" indent="0">
              <a:lnSpc>
                <a:spcPts val="2520"/>
              </a:lnSpc>
              <a:buNone/>
            </a:pPr>
            <a:r>
              <a:rPr lang="en-US" sz="2100" b="1" dirty="0">
                <a:solidFill>
                  <a:srgbClr val="0284C7"/>
                </a:solidFill>
                <a:latin typeface="Arial" pitchFamily="34" charset="0"/>
                <a:ea typeface="Arial" pitchFamily="34" charset="-122"/>
                <a:cs typeface="Arial" pitchFamily="34" charset="-120"/>
              </a:rPr>
              <a:t>Admin</a:t>
            </a:r>
            <a:endParaRPr lang="en-US" sz="2100" dirty="0"/>
          </a:p>
        </p:txBody>
      </p:sp>
      <p:sp>
        <p:nvSpPr>
          <p:cNvPr id="6" name="Text 4"/>
          <p:cNvSpPr/>
          <p:nvPr/>
        </p:nvSpPr>
        <p:spPr>
          <a:xfrm>
            <a:off x="914400" y="2103118"/>
            <a:ext cx="7461504" cy="213360"/>
          </a:xfrm>
          <a:prstGeom prst="rect">
            <a:avLst/>
          </a:prstGeom>
          <a:noFill/>
          <a:ln/>
        </p:spPr>
        <p:txBody>
          <a:bodyPr wrap="square" lIns="0" tIns="0" rIns="0" bIns="0" rtlCol="0" anchor="t"/>
          <a:lstStyle/>
          <a:p>
            <a:pPr marL="0" indent="0">
              <a:lnSpc>
                <a:spcPts val="1680"/>
              </a:lnSpc>
              <a:buNone/>
            </a:pPr>
            <a:r>
              <a:rPr lang="en-US" sz="1200" dirty="0">
                <a:solidFill>
                  <a:srgbClr val="475569"/>
                </a:solidFill>
                <a:latin typeface="Arial" pitchFamily="34" charset="0"/>
                <a:ea typeface="Arial" pitchFamily="34" charset="-122"/>
                <a:cs typeface="Arial" pitchFamily="34" charset="-120"/>
              </a:rPr>
              <a:t>Deployer del contratto. Registra e gestisce aree e operatori. Può attivare/disattivare entità.</a:t>
            </a:r>
            <a:endParaRPr lang="en-US" sz="1200" dirty="0"/>
          </a:p>
        </p:txBody>
      </p:sp>
      <p:sp>
        <p:nvSpPr>
          <p:cNvPr id="7" name="Text 5"/>
          <p:cNvSpPr/>
          <p:nvPr/>
        </p:nvSpPr>
        <p:spPr>
          <a:xfrm>
            <a:off x="914400" y="2926082"/>
            <a:ext cx="7461504" cy="320040"/>
          </a:xfrm>
          <a:prstGeom prst="rect">
            <a:avLst/>
          </a:prstGeom>
          <a:noFill/>
          <a:ln/>
        </p:spPr>
        <p:txBody>
          <a:bodyPr wrap="square" lIns="0" tIns="0" rIns="0" bIns="0" rtlCol="0" anchor="t"/>
          <a:lstStyle/>
          <a:p>
            <a:pPr marL="0" indent="0">
              <a:lnSpc>
                <a:spcPts val="2520"/>
              </a:lnSpc>
              <a:buNone/>
            </a:pPr>
            <a:r>
              <a:rPr lang="en-US" sz="2100" b="1" dirty="0">
                <a:solidFill>
                  <a:srgbClr val="0284C7"/>
                </a:solidFill>
                <a:latin typeface="Arial" pitchFamily="34" charset="0"/>
                <a:ea typeface="Arial" pitchFamily="34" charset="-122"/>
                <a:cs typeface="Arial" pitchFamily="34" charset="-120"/>
              </a:rPr>
              <a:t>Operator</a:t>
            </a:r>
            <a:endParaRPr lang="en-US" sz="2100" dirty="0"/>
          </a:p>
        </p:txBody>
      </p:sp>
      <p:sp>
        <p:nvSpPr>
          <p:cNvPr id="8" name="Text 6"/>
          <p:cNvSpPr/>
          <p:nvPr/>
        </p:nvSpPr>
        <p:spPr>
          <a:xfrm>
            <a:off x="914400" y="3398518"/>
            <a:ext cx="7461504" cy="213360"/>
          </a:xfrm>
          <a:prstGeom prst="rect">
            <a:avLst/>
          </a:prstGeom>
          <a:noFill/>
          <a:ln/>
        </p:spPr>
        <p:txBody>
          <a:bodyPr wrap="square" lIns="0" tIns="0" rIns="0" bIns="0" rtlCol="0" anchor="t"/>
          <a:lstStyle/>
          <a:p>
            <a:pPr marL="0" indent="0">
              <a:lnSpc>
                <a:spcPts val="1680"/>
              </a:lnSpc>
              <a:buNone/>
            </a:pPr>
            <a:r>
              <a:rPr lang="en-US" sz="1200" dirty="0">
                <a:solidFill>
                  <a:srgbClr val="475569"/>
                </a:solidFill>
                <a:latin typeface="Arial" pitchFamily="34" charset="0"/>
                <a:ea typeface="Arial" pitchFamily="34" charset="-122"/>
                <a:cs typeface="Arial" pitchFamily="34" charset="-120"/>
              </a:rPr>
              <a:t>Operatore registrato e attivo. Registra eventi di sanificazione con firma crittografica.</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09600" y="1882141"/>
          <a:ext cx="7924800" cy="1647824"/>
        </p:xfrm>
        <a:graphic>
          <a:graphicData uri="http://schemas.openxmlformats.org/drawingml/2006/table">
            <a:tbl>
              <a:tblPr/>
              <a:tblGrid>
                <a:gridCol w="3962400">
                  <a:extLst>
                    <a:ext uri="{9D8B030D-6E8A-4147-A177-3AD203B41FA5}">
                      <a16:colId xmlns:a16="http://schemas.microsoft.com/office/drawing/2014/main" val="20000"/>
                    </a:ext>
                  </a:extLst>
                </a:gridCol>
                <a:gridCol w="3962400">
                  <a:extLst>
                    <a:ext uri="{9D8B030D-6E8A-4147-A177-3AD203B41FA5}">
                      <a16:colId xmlns:a16="http://schemas.microsoft.com/office/drawing/2014/main" val="20001"/>
                    </a:ext>
                  </a:extLst>
                </a:gridCol>
              </a:tblGrid>
              <a:tr h="411956">
                <a:tc>
                  <a:txBody>
                    <a:bodyPr/>
                    <a:lstStyle/>
                    <a:p>
                      <a:pPr marL="0" indent="0" algn="l">
                        <a:buNone/>
                      </a:pPr>
                      <a:r>
                        <a:rPr lang="en-US" sz="1200" b="1" dirty="0">
                          <a:solidFill>
                            <a:srgbClr val="0284C7"/>
                          </a:solidFill>
                          <a:latin typeface="Arial" pitchFamily="34" charset="0"/>
                          <a:ea typeface="Arial" pitchFamily="34" charset="-122"/>
                          <a:cs typeface="Arial" pitchFamily="34" charset="-120"/>
                        </a:rPr>
                        <a:t>Struct</a:t>
                      </a:r>
                      <a:endParaRPr lang="en-US" sz="1200" dirty="0">
                        <a:latin typeface="Arial" charset="0"/>
                        <a:ea typeface="Arial" charset="0"/>
                        <a:cs typeface="Arial" charset="0"/>
                      </a:endParaRPr>
                    </a:p>
                  </a:txBody>
                  <a:tcPr anchor="ctr">
                    <a:lnL w="0" cap="flat" cmpd="sng" algn="ctr">
                      <a:noFill/>
                    </a:lnL>
                    <a:lnR w="0" cap="flat" cmpd="sng" algn="ctr">
                      <a:noFill/>
                    </a:lnR>
                    <a:lnT w="0" cap="flat" cmpd="sng" algn="ctr">
                      <a:noFill/>
                    </a:lnT>
                    <a:lnB w="12700" cap="flat" cmpd="sng" algn="ctr">
                      <a:solidFill>
                        <a:srgbClr val="E2E8F0"/>
                      </a:solidFill>
                      <a:prstDash val="solid"/>
                      <a:round/>
                      <a:headEnd type="none" w="med" len="med"/>
                      <a:tailEnd type="none" w="med" len="med"/>
                    </a:lnB>
                    <a:solidFill>
                      <a:srgbClr val="F1F5F9"/>
                    </a:solidFill>
                  </a:tcPr>
                </a:tc>
                <a:tc>
                  <a:txBody>
                    <a:bodyPr/>
                    <a:lstStyle/>
                    <a:p>
                      <a:pPr marL="0" indent="0" algn="l">
                        <a:buNone/>
                      </a:pPr>
                      <a:r>
                        <a:rPr lang="en-US" sz="1200" b="1" dirty="0">
                          <a:solidFill>
                            <a:srgbClr val="0284C7"/>
                          </a:solidFill>
                          <a:latin typeface="Arial" pitchFamily="34" charset="0"/>
                          <a:ea typeface="Arial" pitchFamily="34" charset="-122"/>
                          <a:cs typeface="Arial" pitchFamily="34" charset="-120"/>
                        </a:rPr>
                        <a:t>Campi Principali</a:t>
                      </a:r>
                      <a:endParaRPr lang="en-US" sz="1200" dirty="0">
                        <a:latin typeface="Arial" charset="0"/>
                        <a:ea typeface="Arial" charset="0"/>
                        <a:cs typeface="Arial" charset="0"/>
                      </a:endParaRPr>
                    </a:p>
                  </a:txBody>
                  <a:tcPr anchor="ctr">
                    <a:lnL w="0" cap="flat" cmpd="sng" algn="ctr">
                      <a:noFill/>
                    </a:lnL>
                    <a:lnR w="0" cap="flat" cmpd="sng" algn="ctr">
                      <a:noFill/>
                    </a:lnR>
                    <a:lnT w="0" cap="flat" cmpd="sng" algn="ctr">
                      <a:noFill/>
                    </a:lnT>
                    <a:lnB w="1270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0"/>
                  </a:ext>
                </a:extLst>
              </a:tr>
              <a:tr h="411956">
                <a:tc>
                  <a:txBody>
                    <a:bodyPr/>
                    <a:lstStyle/>
                    <a:p>
                      <a:pPr marL="0" indent="0">
                        <a:buNone/>
                      </a:pPr>
                      <a:r>
                        <a:rPr lang="en-US" sz="1200" dirty="0">
                          <a:solidFill>
                            <a:srgbClr val="475569"/>
                          </a:solidFill>
                          <a:latin typeface="Arial" pitchFamily="34" charset="0"/>
                          <a:ea typeface="Arial" pitchFamily="34" charset="-122"/>
                          <a:cs typeface="Arial" pitchFamily="34" charset="-120"/>
                        </a:rPr>
                        <a:t>Area</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ID, nome, stato attivo, exists</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411956">
                <a:tc>
                  <a:txBody>
                    <a:bodyPr/>
                    <a:lstStyle/>
                    <a:p>
                      <a:pPr marL="0" indent="0">
                        <a:buNone/>
                      </a:pPr>
                      <a:r>
                        <a:rPr lang="en-US" sz="1200" dirty="0">
                          <a:solidFill>
                            <a:srgbClr val="475569"/>
                          </a:solidFill>
                          <a:latin typeface="Arial" pitchFamily="34" charset="0"/>
                          <a:ea typeface="Arial" pitchFamily="34" charset="-122"/>
                          <a:cs typeface="Arial" pitchFamily="34" charset="-120"/>
                        </a:rPr>
                        <a:t>Operator</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wallet address, nome, attivo, exists</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extLst>
                  <a:ext uri="{0D108BD9-81ED-4DB2-BD59-A6C34878D82A}">
                    <a16:rowId xmlns:a16="http://schemas.microsoft.com/office/drawing/2014/main" val="10002"/>
                  </a:ext>
                </a:extLst>
              </a:tr>
              <a:tr h="411956">
                <a:tc>
                  <a:txBody>
                    <a:bodyPr/>
                    <a:lstStyle/>
                    <a:p>
                      <a:pPr marL="0" indent="0">
                        <a:buNone/>
                      </a:pPr>
                      <a:r>
                        <a:rPr lang="en-US" sz="1200" dirty="0">
                          <a:solidFill>
                            <a:srgbClr val="475569"/>
                          </a:solidFill>
                          <a:latin typeface="Arial" pitchFamily="34" charset="0"/>
                          <a:ea typeface="Arial" pitchFamily="34" charset="-122"/>
                          <a:cs typeface="Arial" pitchFamily="34" charset="-120"/>
                        </a:rPr>
                        <a:t>SanitizationEvent</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areaId, operatorAddress, timestamp, outcome, notes</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3" name="Text 0"/>
          <p:cNvSpPr/>
          <p:nvPr/>
        </p:nvSpPr>
        <p:spPr>
          <a:xfrm>
            <a:off x="609600" y="609600"/>
            <a:ext cx="8083296" cy="411480"/>
          </a:xfrm>
          <a:prstGeom prst="rect">
            <a:avLst/>
          </a:prstGeom>
          <a:noFill/>
          <a:ln/>
        </p:spPr>
        <p:txBody>
          <a:bodyPr wrap="square" lIns="0" tIns="0" rIns="0" bIns="0" rtlCol="0" anchor="t"/>
          <a:lstStyle/>
          <a:p>
            <a:pPr marL="0" indent="0">
              <a:lnSpc>
                <a:spcPts val="3240"/>
              </a:lnSpc>
              <a:buNone/>
            </a:pPr>
            <a:r>
              <a:rPr lang="en-US" sz="2700" b="1" dirty="0">
                <a:solidFill>
                  <a:srgbClr val="0284C7"/>
                </a:solidFill>
                <a:latin typeface="Arial" pitchFamily="34" charset="0"/>
                <a:ea typeface="Arial" pitchFamily="34" charset="-122"/>
                <a:cs typeface="Arial" pitchFamily="34" charset="-120"/>
              </a:rPr>
              <a:t>Modello Dati</a:t>
            </a:r>
            <a:endParaRPr lang="en-US" sz="2700" dirty="0"/>
          </a:p>
        </p:txBody>
      </p:sp>
      <p:sp>
        <p:nvSpPr>
          <p:cNvPr id="4" name="Text 1"/>
          <p:cNvSpPr/>
          <p:nvPr/>
        </p:nvSpPr>
        <p:spPr>
          <a:xfrm>
            <a:off x="609600" y="1249682"/>
            <a:ext cx="7924800" cy="480060"/>
          </a:xfrm>
          <a:prstGeom prst="rect">
            <a:avLst/>
          </a:prstGeom>
          <a:noFill/>
          <a:ln/>
        </p:spPr>
        <p:txBody>
          <a:bodyPr wrap="square" lIns="0" tIns="0" rIns="0" bIns="0" rtlCol="0" anchor="t"/>
          <a:lstStyle/>
          <a:p>
            <a:pPr marL="0" indent="0">
              <a:lnSpc>
                <a:spcPts val="1890"/>
              </a:lnSpc>
              <a:buNone/>
            </a:pPr>
            <a:r>
              <a:rPr lang="en-US" sz="1350" dirty="0">
                <a:solidFill>
                  <a:srgbClr val="475569"/>
                </a:solidFill>
                <a:latin typeface="Arial" pitchFamily="34" charset="0"/>
                <a:ea typeface="Arial" pitchFamily="34" charset="-122"/>
                <a:cs typeface="Arial" pitchFamily="34" charset="-120"/>
              </a:rPr>
              <a:t>Il contratto definisce tre struct centrali per rappresentare aree, operatori e eventi di sanificazione con mapping per accesso efficiente.</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09600" y="1882141"/>
          <a:ext cx="7924800" cy="2057400"/>
        </p:xfrm>
        <a:graphic>
          <a:graphicData uri="http://schemas.openxmlformats.org/drawingml/2006/table">
            <a:tbl>
              <a:tblPr/>
              <a:tblGrid>
                <a:gridCol w="2641600">
                  <a:extLst>
                    <a:ext uri="{9D8B030D-6E8A-4147-A177-3AD203B41FA5}">
                      <a16:colId xmlns:a16="http://schemas.microsoft.com/office/drawing/2014/main" val="20000"/>
                    </a:ext>
                  </a:extLst>
                </a:gridCol>
                <a:gridCol w="2641600">
                  <a:extLst>
                    <a:ext uri="{9D8B030D-6E8A-4147-A177-3AD203B41FA5}">
                      <a16:colId xmlns:a16="http://schemas.microsoft.com/office/drawing/2014/main" val="20001"/>
                    </a:ext>
                  </a:extLst>
                </a:gridCol>
                <a:gridCol w="2641600">
                  <a:extLst>
                    <a:ext uri="{9D8B030D-6E8A-4147-A177-3AD203B41FA5}">
                      <a16:colId xmlns:a16="http://schemas.microsoft.com/office/drawing/2014/main" val="20002"/>
                    </a:ext>
                  </a:extLst>
                </a:gridCol>
              </a:tblGrid>
              <a:tr h="411480">
                <a:tc>
                  <a:txBody>
                    <a:bodyPr/>
                    <a:lstStyle/>
                    <a:p>
                      <a:pPr marL="0" indent="0" algn="l">
                        <a:buNone/>
                      </a:pPr>
                      <a:r>
                        <a:rPr lang="en-US" sz="1200" b="1" dirty="0">
                          <a:solidFill>
                            <a:srgbClr val="0284C7"/>
                          </a:solidFill>
                          <a:latin typeface="Arial" pitchFamily="34" charset="0"/>
                          <a:ea typeface="Arial" pitchFamily="34" charset="-122"/>
                          <a:cs typeface="Arial" pitchFamily="34" charset="-120"/>
                        </a:rPr>
                        <a:t>Funzione</a:t>
                      </a:r>
                      <a:endParaRPr lang="en-US" sz="1200" dirty="0">
                        <a:latin typeface="Arial" charset="0"/>
                        <a:ea typeface="Arial" charset="0"/>
                        <a:cs typeface="Arial" charset="0"/>
                      </a:endParaRPr>
                    </a:p>
                  </a:txBody>
                  <a:tcPr anchor="ctr">
                    <a:lnL w="0" cap="flat" cmpd="sng" algn="ctr">
                      <a:noFill/>
                    </a:lnL>
                    <a:lnR w="0" cap="flat" cmpd="sng" algn="ctr">
                      <a:noFill/>
                    </a:lnR>
                    <a:lnT w="0" cap="flat" cmpd="sng" algn="ctr">
                      <a:noFill/>
                    </a:lnT>
                    <a:lnB w="12700" cap="flat" cmpd="sng" algn="ctr">
                      <a:solidFill>
                        <a:srgbClr val="E2E8F0"/>
                      </a:solidFill>
                      <a:prstDash val="solid"/>
                      <a:round/>
                      <a:headEnd type="none" w="med" len="med"/>
                      <a:tailEnd type="none" w="med" len="med"/>
                    </a:lnB>
                    <a:solidFill>
                      <a:srgbClr val="F1F5F9"/>
                    </a:solidFill>
                  </a:tcPr>
                </a:tc>
                <a:tc>
                  <a:txBody>
                    <a:bodyPr/>
                    <a:lstStyle/>
                    <a:p>
                      <a:pPr marL="0" indent="0" algn="l">
                        <a:buNone/>
                      </a:pPr>
                      <a:r>
                        <a:rPr lang="en-US" sz="1200" b="1" dirty="0">
                          <a:solidFill>
                            <a:srgbClr val="0284C7"/>
                          </a:solidFill>
                          <a:latin typeface="Arial" pitchFamily="34" charset="0"/>
                          <a:ea typeface="Arial" pitchFamily="34" charset="-122"/>
                          <a:cs typeface="Arial" pitchFamily="34" charset="-120"/>
                        </a:rPr>
                        <a:t>Ruolo</a:t>
                      </a:r>
                      <a:endParaRPr lang="en-US" sz="1200" dirty="0">
                        <a:latin typeface="Arial" charset="0"/>
                        <a:ea typeface="Arial" charset="0"/>
                        <a:cs typeface="Arial" charset="0"/>
                      </a:endParaRPr>
                    </a:p>
                  </a:txBody>
                  <a:tcPr anchor="ctr">
                    <a:lnL w="0" cap="flat" cmpd="sng" algn="ctr">
                      <a:noFill/>
                    </a:lnL>
                    <a:lnR w="0" cap="flat" cmpd="sng" algn="ctr">
                      <a:noFill/>
                    </a:lnR>
                    <a:lnT w="0" cap="flat" cmpd="sng" algn="ctr">
                      <a:noFill/>
                    </a:lnT>
                    <a:lnB w="12700" cap="flat" cmpd="sng" algn="ctr">
                      <a:solidFill>
                        <a:srgbClr val="E2E8F0"/>
                      </a:solidFill>
                      <a:prstDash val="solid"/>
                      <a:round/>
                      <a:headEnd type="none" w="med" len="med"/>
                      <a:tailEnd type="none" w="med" len="med"/>
                    </a:lnB>
                    <a:solidFill>
                      <a:srgbClr val="F1F5F9"/>
                    </a:solidFill>
                  </a:tcPr>
                </a:tc>
                <a:tc>
                  <a:txBody>
                    <a:bodyPr/>
                    <a:lstStyle/>
                    <a:p>
                      <a:pPr marL="0" indent="0" algn="l">
                        <a:buNone/>
                      </a:pPr>
                      <a:r>
                        <a:rPr lang="en-US" sz="1200" b="1" dirty="0">
                          <a:solidFill>
                            <a:srgbClr val="0284C7"/>
                          </a:solidFill>
                          <a:latin typeface="Arial" pitchFamily="34" charset="0"/>
                          <a:ea typeface="Arial" pitchFamily="34" charset="-122"/>
                          <a:cs typeface="Arial" pitchFamily="34" charset="-120"/>
                        </a:rPr>
                        <a:t>Descrizione</a:t>
                      </a:r>
                      <a:endParaRPr lang="en-US" sz="1200" dirty="0">
                        <a:latin typeface="Arial" charset="0"/>
                        <a:ea typeface="Arial" charset="0"/>
                        <a:cs typeface="Arial" charset="0"/>
                      </a:endParaRPr>
                    </a:p>
                  </a:txBody>
                  <a:tcPr anchor="ctr">
                    <a:lnL w="0" cap="flat" cmpd="sng" algn="ctr">
                      <a:noFill/>
                    </a:lnL>
                    <a:lnR w="0" cap="flat" cmpd="sng" algn="ctr">
                      <a:noFill/>
                    </a:lnR>
                    <a:lnT w="0" cap="flat" cmpd="sng" algn="ctr">
                      <a:noFill/>
                    </a:lnT>
                    <a:lnB w="1270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0"/>
                  </a:ext>
                </a:extLst>
              </a:tr>
              <a:tr h="411480">
                <a:tc>
                  <a:txBody>
                    <a:bodyPr/>
                    <a:lstStyle/>
                    <a:p>
                      <a:pPr marL="0" indent="0">
                        <a:buNone/>
                      </a:pPr>
                      <a:r>
                        <a:rPr lang="en-US" sz="1200" dirty="0">
                          <a:solidFill>
                            <a:srgbClr val="475569"/>
                          </a:solidFill>
                          <a:latin typeface="Arial" pitchFamily="34" charset="0"/>
                          <a:ea typeface="Arial" pitchFamily="34" charset="-122"/>
                          <a:cs typeface="Arial" pitchFamily="34" charset="-120"/>
                        </a:rPr>
                        <a:t>registerArea</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Admin</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Crea nuove aree ospedaliere</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411480">
                <a:tc>
                  <a:txBody>
                    <a:bodyPr/>
                    <a:lstStyle/>
                    <a:p>
                      <a:pPr marL="0" indent="0">
                        <a:buNone/>
                      </a:pPr>
                      <a:r>
                        <a:rPr lang="en-US" sz="1200" dirty="0">
                          <a:solidFill>
                            <a:srgbClr val="475569"/>
                          </a:solidFill>
                          <a:latin typeface="Arial" pitchFamily="34" charset="0"/>
                          <a:ea typeface="Arial" pitchFamily="34" charset="-122"/>
                          <a:cs typeface="Arial" pitchFamily="34" charset="-120"/>
                        </a:rPr>
                        <a:t>registerOperator</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Admin</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Registra operatori autorizzati</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extLst>
                  <a:ext uri="{0D108BD9-81ED-4DB2-BD59-A6C34878D82A}">
                    <a16:rowId xmlns:a16="http://schemas.microsoft.com/office/drawing/2014/main" val="10002"/>
                  </a:ext>
                </a:extLst>
              </a:tr>
              <a:tr h="411480">
                <a:tc>
                  <a:txBody>
                    <a:bodyPr/>
                    <a:lstStyle/>
                    <a:p>
                      <a:pPr marL="0" indent="0">
                        <a:buNone/>
                      </a:pPr>
                      <a:r>
                        <a:rPr lang="en-US" sz="1200" dirty="0">
                          <a:solidFill>
                            <a:srgbClr val="475569"/>
                          </a:solidFill>
                          <a:latin typeface="Arial" pitchFamily="34" charset="0"/>
                          <a:ea typeface="Arial" pitchFamily="34" charset="-122"/>
                          <a:cs typeface="Arial" pitchFamily="34" charset="-120"/>
                        </a:rPr>
                        <a:t>sanitize</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Operator</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Registra evento sanificazione</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411480">
                <a:tc>
                  <a:txBody>
                    <a:bodyPr/>
                    <a:lstStyle/>
                    <a:p>
                      <a:pPr marL="0" indent="0">
                        <a:buNone/>
                      </a:pPr>
                      <a:r>
                        <a:rPr lang="en-US" sz="1200" dirty="0">
                          <a:solidFill>
                            <a:srgbClr val="475569"/>
                          </a:solidFill>
                          <a:latin typeface="Arial" pitchFamily="34" charset="0"/>
                          <a:ea typeface="Arial" pitchFamily="34" charset="-122"/>
                          <a:cs typeface="Arial" pitchFamily="34" charset="-120"/>
                        </a:rPr>
                        <a:t>getAreaEvents</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Pubblico</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Consulta storico area</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extLst>
                  <a:ext uri="{0D108BD9-81ED-4DB2-BD59-A6C34878D82A}">
                    <a16:rowId xmlns:a16="http://schemas.microsoft.com/office/drawing/2014/main" val="10004"/>
                  </a:ext>
                </a:extLst>
              </a:tr>
            </a:tbl>
          </a:graphicData>
        </a:graphic>
      </p:graphicFrame>
      <p:sp>
        <p:nvSpPr>
          <p:cNvPr id="3" name="Text 0"/>
          <p:cNvSpPr/>
          <p:nvPr/>
        </p:nvSpPr>
        <p:spPr>
          <a:xfrm>
            <a:off x="609600" y="609600"/>
            <a:ext cx="8083296" cy="411480"/>
          </a:xfrm>
          <a:prstGeom prst="rect">
            <a:avLst/>
          </a:prstGeom>
          <a:noFill/>
          <a:ln/>
        </p:spPr>
        <p:txBody>
          <a:bodyPr wrap="square" lIns="0" tIns="0" rIns="0" bIns="0" rtlCol="0" anchor="t"/>
          <a:lstStyle/>
          <a:p>
            <a:pPr marL="0" indent="0">
              <a:lnSpc>
                <a:spcPts val="3240"/>
              </a:lnSpc>
              <a:buNone/>
            </a:pPr>
            <a:r>
              <a:rPr lang="en-US" sz="2700" b="1" dirty="0">
                <a:solidFill>
                  <a:srgbClr val="0284C7"/>
                </a:solidFill>
                <a:latin typeface="Arial" pitchFamily="34" charset="0"/>
                <a:ea typeface="Arial" pitchFamily="34" charset="-122"/>
                <a:cs typeface="Arial" pitchFamily="34" charset="-120"/>
              </a:rPr>
              <a:t>Funzioni Principali e Controllo Accessi</a:t>
            </a:r>
            <a:endParaRPr lang="en-US" sz="2700" dirty="0"/>
          </a:p>
        </p:txBody>
      </p:sp>
      <p:sp>
        <p:nvSpPr>
          <p:cNvPr id="4" name="Text 1"/>
          <p:cNvSpPr/>
          <p:nvPr/>
        </p:nvSpPr>
        <p:spPr>
          <a:xfrm>
            <a:off x="609600" y="1249682"/>
            <a:ext cx="7924800" cy="480060"/>
          </a:xfrm>
          <a:prstGeom prst="rect">
            <a:avLst/>
          </a:prstGeom>
          <a:noFill/>
          <a:ln/>
        </p:spPr>
        <p:txBody>
          <a:bodyPr wrap="square" lIns="0" tIns="0" rIns="0" bIns="0" rtlCol="0" anchor="t"/>
          <a:lstStyle/>
          <a:p>
            <a:pPr marL="0" indent="0">
              <a:lnSpc>
                <a:spcPts val="1890"/>
              </a:lnSpc>
              <a:buNone/>
            </a:pPr>
            <a:r>
              <a:rPr lang="en-US" sz="1350" dirty="0">
                <a:solidFill>
                  <a:srgbClr val="475569"/>
                </a:solidFill>
                <a:latin typeface="Arial" pitchFamily="34" charset="0"/>
                <a:ea typeface="Arial" pitchFamily="34" charset="-122"/>
                <a:cs typeface="Arial" pitchFamily="34" charset="-120"/>
              </a:rPr>
              <a:t>Il contratto espone funzioni specifiche per ruolo, con modifiers che garantiscono la sicurezza degli accessi.</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1325882"/>
            <a:ext cx="7924800" cy="1295400"/>
          </a:xfrm>
          <a:prstGeom prst="rect">
            <a:avLst/>
          </a:prstGeom>
          <a:solidFill>
            <a:srgbClr val="F1F5F9"/>
          </a:solidFill>
          <a:ln/>
        </p:spPr>
        <p:txBody>
          <a:bodyPr wrap="none" lIns="0" tIns="0" rIns="0" bIns="0" rtlCol="0" anchor="ctr">
            <a:normAutofit/>
          </a:bodyPr>
          <a:lstStyle/>
          <a:p>
            <a:pPr marL="0" indent="0">
              <a:buNone/>
            </a:pPr>
            <a:endParaRPr lang="en-US" dirty="0"/>
          </a:p>
        </p:txBody>
      </p:sp>
      <p:sp>
        <p:nvSpPr>
          <p:cNvPr id="3" name="Text 1"/>
          <p:cNvSpPr/>
          <p:nvPr/>
        </p:nvSpPr>
        <p:spPr>
          <a:xfrm>
            <a:off x="609600" y="2621282"/>
            <a:ext cx="7924800" cy="1295400"/>
          </a:xfrm>
          <a:prstGeom prst="rect">
            <a:avLst/>
          </a:prstGeom>
          <a:solidFill>
            <a:srgbClr val="F1F5F9"/>
          </a:solidFill>
          <a:ln/>
        </p:spPr>
        <p:txBody>
          <a:bodyPr wrap="none" lIns="0" tIns="0" rIns="0" bIns="0" rtlCol="0" anchor="ctr">
            <a:normAutofit/>
          </a:bodyPr>
          <a:lstStyle/>
          <a:p>
            <a:pPr marL="0" indent="0">
              <a:buNone/>
            </a:pPr>
            <a:endParaRPr lang="en-US" dirty="0"/>
          </a:p>
        </p:txBody>
      </p:sp>
      <p:sp>
        <p:nvSpPr>
          <p:cNvPr id="4" name="Text 2"/>
          <p:cNvSpPr/>
          <p:nvPr/>
        </p:nvSpPr>
        <p:spPr>
          <a:xfrm>
            <a:off x="609600" y="609600"/>
            <a:ext cx="8083296" cy="411480"/>
          </a:xfrm>
          <a:prstGeom prst="rect">
            <a:avLst/>
          </a:prstGeom>
          <a:noFill/>
          <a:ln/>
        </p:spPr>
        <p:txBody>
          <a:bodyPr wrap="square" lIns="0" tIns="0" rIns="0" bIns="0" rtlCol="0" anchor="t"/>
          <a:lstStyle/>
          <a:p>
            <a:pPr marL="0" indent="0">
              <a:lnSpc>
                <a:spcPts val="3240"/>
              </a:lnSpc>
              <a:buNone/>
            </a:pPr>
            <a:r>
              <a:rPr lang="en-US" sz="2700" b="1" dirty="0">
                <a:solidFill>
                  <a:srgbClr val="0284C7"/>
                </a:solidFill>
                <a:latin typeface="Arial" pitchFamily="34" charset="0"/>
                <a:ea typeface="Arial" pitchFamily="34" charset="-122"/>
                <a:cs typeface="Arial" pitchFamily="34" charset="-120"/>
              </a:rPr>
              <a:t>Testing e Deploy</a:t>
            </a:r>
            <a:endParaRPr lang="en-US" sz="2700" dirty="0"/>
          </a:p>
        </p:txBody>
      </p:sp>
      <p:sp>
        <p:nvSpPr>
          <p:cNvPr id="5" name="Text 3"/>
          <p:cNvSpPr/>
          <p:nvPr/>
        </p:nvSpPr>
        <p:spPr>
          <a:xfrm>
            <a:off x="914400" y="1630682"/>
            <a:ext cx="7461504" cy="320040"/>
          </a:xfrm>
          <a:prstGeom prst="rect">
            <a:avLst/>
          </a:prstGeom>
          <a:noFill/>
          <a:ln/>
        </p:spPr>
        <p:txBody>
          <a:bodyPr wrap="square" lIns="0" tIns="0" rIns="0" bIns="0" rtlCol="0" anchor="t"/>
          <a:lstStyle/>
          <a:p>
            <a:pPr marL="0" indent="0">
              <a:lnSpc>
                <a:spcPts val="2520"/>
              </a:lnSpc>
              <a:buNone/>
            </a:pPr>
            <a:r>
              <a:rPr lang="en-US" sz="2100" b="1" dirty="0">
                <a:solidFill>
                  <a:srgbClr val="0284C7"/>
                </a:solidFill>
                <a:latin typeface="Arial" pitchFamily="34" charset="0"/>
                <a:ea typeface="Arial" pitchFamily="34" charset="-122"/>
                <a:cs typeface="Arial" pitchFamily="34" charset="-120"/>
              </a:rPr>
              <a:t>Testing</a:t>
            </a:r>
            <a:endParaRPr lang="en-US" sz="2100" dirty="0"/>
          </a:p>
        </p:txBody>
      </p:sp>
      <p:sp>
        <p:nvSpPr>
          <p:cNvPr id="6" name="Text 4"/>
          <p:cNvSpPr/>
          <p:nvPr/>
        </p:nvSpPr>
        <p:spPr>
          <a:xfrm>
            <a:off x="914400" y="2103118"/>
            <a:ext cx="7461504" cy="213360"/>
          </a:xfrm>
          <a:prstGeom prst="rect">
            <a:avLst/>
          </a:prstGeom>
          <a:noFill/>
          <a:ln/>
        </p:spPr>
        <p:txBody>
          <a:bodyPr wrap="square" lIns="0" tIns="0" rIns="0" bIns="0" rtlCol="0" anchor="t"/>
          <a:lstStyle/>
          <a:p>
            <a:pPr marL="0" indent="0">
              <a:lnSpc>
                <a:spcPts val="1680"/>
              </a:lnSpc>
              <a:buNone/>
            </a:pPr>
            <a:r>
              <a:rPr lang="en-US" sz="1200" dirty="0">
                <a:solidFill>
                  <a:srgbClr val="475569"/>
                </a:solidFill>
                <a:latin typeface="Arial" pitchFamily="34" charset="0"/>
                <a:ea typeface="Arial" pitchFamily="34" charset="-122"/>
                <a:cs typeface="Arial" pitchFamily="34" charset="-120"/>
              </a:rPr>
              <a:t>Suite completa con Hardhat: 14/14 test passati. Copertura completa di tutte le funzionalità.</a:t>
            </a:r>
            <a:endParaRPr lang="en-US" sz="1200" dirty="0"/>
          </a:p>
        </p:txBody>
      </p:sp>
      <p:sp>
        <p:nvSpPr>
          <p:cNvPr id="7" name="Text 5"/>
          <p:cNvSpPr/>
          <p:nvPr/>
        </p:nvSpPr>
        <p:spPr>
          <a:xfrm>
            <a:off x="914400" y="2926082"/>
            <a:ext cx="7461504" cy="320040"/>
          </a:xfrm>
          <a:prstGeom prst="rect">
            <a:avLst/>
          </a:prstGeom>
          <a:noFill/>
          <a:ln/>
        </p:spPr>
        <p:txBody>
          <a:bodyPr wrap="square" lIns="0" tIns="0" rIns="0" bIns="0" rtlCol="0" anchor="t"/>
          <a:lstStyle/>
          <a:p>
            <a:pPr marL="0" indent="0">
              <a:lnSpc>
                <a:spcPts val="2520"/>
              </a:lnSpc>
              <a:buNone/>
            </a:pPr>
            <a:r>
              <a:rPr lang="en-US" sz="2100" b="1" dirty="0">
                <a:solidFill>
                  <a:srgbClr val="0284C7"/>
                </a:solidFill>
                <a:latin typeface="Arial" pitchFamily="34" charset="0"/>
                <a:ea typeface="Arial" pitchFamily="34" charset="-122"/>
                <a:cs typeface="Arial" pitchFamily="34" charset="-120"/>
              </a:rPr>
              <a:t>Deploy</a:t>
            </a:r>
            <a:endParaRPr lang="en-US" sz="2100" dirty="0"/>
          </a:p>
        </p:txBody>
      </p:sp>
      <p:sp>
        <p:nvSpPr>
          <p:cNvPr id="8" name="Text 6"/>
          <p:cNvSpPr/>
          <p:nvPr/>
        </p:nvSpPr>
        <p:spPr>
          <a:xfrm>
            <a:off x="914400" y="3398518"/>
            <a:ext cx="7461504" cy="213360"/>
          </a:xfrm>
          <a:prstGeom prst="rect">
            <a:avLst/>
          </a:prstGeom>
          <a:noFill/>
          <a:ln/>
        </p:spPr>
        <p:txBody>
          <a:bodyPr wrap="square" lIns="0" tIns="0" rIns="0" bIns="0" rtlCol="0" anchor="t"/>
          <a:lstStyle/>
          <a:p>
            <a:pPr marL="0" indent="0">
              <a:lnSpc>
                <a:spcPts val="1680"/>
              </a:lnSpc>
              <a:buNone/>
            </a:pPr>
            <a:r>
              <a:rPr lang="en-US" sz="1200" dirty="0">
                <a:solidFill>
                  <a:srgbClr val="475569"/>
                </a:solidFill>
                <a:latin typeface="Arial" pitchFamily="34" charset="0"/>
                <a:ea typeface="Arial" pitchFamily="34" charset="-122"/>
                <a:cs typeface="Arial" pitchFamily="34" charset="-120"/>
              </a:rPr>
              <a:t>Sepolia Testnet, 21 Feb 2026. Indirizzo: 0x679C...4517</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09600" y="1882141"/>
          <a:ext cx="7924800" cy="1647825"/>
        </p:xfrm>
        <a:graphic>
          <a:graphicData uri="http://schemas.openxmlformats.org/drawingml/2006/table">
            <a:tbl>
              <a:tblPr/>
              <a:tblGrid>
                <a:gridCol w="3962400">
                  <a:extLst>
                    <a:ext uri="{9D8B030D-6E8A-4147-A177-3AD203B41FA5}">
                      <a16:colId xmlns:a16="http://schemas.microsoft.com/office/drawing/2014/main" val="20000"/>
                    </a:ext>
                  </a:extLst>
                </a:gridCol>
                <a:gridCol w="3962400">
                  <a:extLst>
                    <a:ext uri="{9D8B030D-6E8A-4147-A177-3AD203B41FA5}">
                      <a16:colId xmlns:a16="http://schemas.microsoft.com/office/drawing/2014/main" val="20001"/>
                    </a:ext>
                  </a:extLst>
                </a:gridCol>
              </a:tblGrid>
              <a:tr h="411956">
                <a:tc>
                  <a:txBody>
                    <a:bodyPr/>
                    <a:lstStyle/>
                    <a:p>
                      <a:pPr marL="0" indent="0" algn="l">
                        <a:buNone/>
                      </a:pPr>
                      <a:r>
                        <a:rPr lang="en-US" sz="1200" b="1" dirty="0">
                          <a:solidFill>
                            <a:srgbClr val="0284C7"/>
                          </a:solidFill>
                          <a:latin typeface="Arial" pitchFamily="34" charset="0"/>
                          <a:ea typeface="Arial" pitchFamily="34" charset="-122"/>
                          <a:cs typeface="Arial" pitchFamily="34" charset="-120"/>
                        </a:rPr>
                        <a:t>File</a:t>
                      </a:r>
                      <a:endParaRPr lang="en-US" sz="1200" dirty="0">
                        <a:latin typeface="Arial" charset="0"/>
                        <a:ea typeface="Arial" charset="0"/>
                        <a:cs typeface="Arial" charset="0"/>
                      </a:endParaRPr>
                    </a:p>
                  </a:txBody>
                  <a:tcPr anchor="ctr">
                    <a:lnL w="0" cap="flat" cmpd="sng" algn="ctr">
                      <a:noFill/>
                    </a:lnL>
                    <a:lnR w="0" cap="flat" cmpd="sng" algn="ctr">
                      <a:noFill/>
                    </a:lnR>
                    <a:lnT w="0" cap="flat" cmpd="sng" algn="ctr">
                      <a:noFill/>
                    </a:lnT>
                    <a:lnB w="12700" cap="flat" cmpd="sng" algn="ctr">
                      <a:solidFill>
                        <a:srgbClr val="E2E8F0"/>
                      </a:solidFill>
                      <a:prstDash val="solid"/>
                      <a:round/>
                      <a:headEnd type="none" w="med" len="med"/>
                      <a:tailEnd type="none" w="med" len="med"/>
                    </a:lnB>
                    <a:solidFill>
                      <a:srgbClr val="F1F5F9"/>
                    </a:solidFill>
                  </a:tcPr>
                </a:tc>
                <a:tc>
                  <a:txBody>
                    <a:bodyPr/>
                    <a:lstStyle/>
                    <a:p>
                      <a:pPr marL="0" indent="0" algn="l">
                        <a:buNone/>
                      </a:pPr>
                      <a:r>
                        <a:rPr lang="en-US" sz="1200" b="1" dirty="0">
                          <a:solidFill>
                            <a:srgbClr val="0284C7"/>
                          </a:solidFill>
                          <a:latin typeface="Arial" pitchFamily="34" charset="0"/>
                          <a:ea typeface="Arial" pitchFamily="34" charset="-122"/>
                          <a:cs typeface="Arial" pitchFamily="34" charset="-120"/>
                        </a:rPr>
                        <a:t>Ruolo</a:t>
                      </a:r>
                      <a:endParaRPr lang="en-US" sz="1200" dirty="0">
                        <a:latin typeface="Arial" charset="0"/>
                        <a:ea typeface="Arial" charset="0"/>
                        <a:cs typeface="Arial" charset="0"/>
                      </a:endParaRPr>
                    </a:p>
                  </a:txBody>
                  <a:tcPr anchor="ctr">
                    <a:lnL w="0" cap="flat" cmpd="sng" algn="ctr">
                      <a:noFill/>
                    </a:lnL>
                    <a:lnR w="0" cap="flat" cmpd="sng" algn="ctr">
                      <a:noFill/>
                    </a:lnR>
                    <a:lnT w="0" cap="flat" cmpd="sng" algn="ctr">
                      <a:noFill/>
                    </a:lnT>
                    <a:lnB w="1270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0"/>
                  </a:ext>
                </a:extLst>
              </a:tr>
              <a:tr h="411956">
                <a:tc>
                  <a:txBody>
                    <a:bodyPr/>
                    <a:lstStyle/>
                    <a:p>
                      <a:pPr marL="0" indent="0">
                        <a:buNone/>
                      </a:pPr>
                      <a:r>
                        <a:rPr lang="en-US" sz="1200" dirty="0">
                          <a:solidFill>
                            <a:srgbClr val="475569"/>
                          </a:solidFill>
                          <a:latin typeface="Arial" pitchFamily="34" charset="0"/>
                          <a:ea typeface="Arial" pitchFamily="34" charset="-122"/>
                          <a:cs typeface="Arial" pitchFamily="34" charset="-120"/>
                        </a:rPr>
                        <a:t>index.html</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Struttura UI con sezioni per ruoli</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411956">
                <a:tc>
                  <a:txBody>
                    <a:bodyPr/>
                    <a:lstStyle/>
                    <a:p>
                      <a:pPr marL="0" indent="0">
                        <a:buNone/>
                      </a:pPr>
                      <a:r>
                        <a:rPr lang="en-US" sz="1200" dirty="0">
                          <a:solidFill>
                            <a:srgbClr val="475569"/>
                          </a:solidFill>
                          <a:latin typeface="Arial" pitchFamily="34" charset="0"/>
                          <a:ea typeface="Arial" pitchFamily="34" charset="-122"/>
                          <a:cs typeface="Arial" pitchFamily="34" charset="-120"/>
                        </a:rPr>
                        <a:t>app.js</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Connessione MetaMask e chiamate contratto</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extLst>
                  <a:ext uri="{0D108BD9-81ED-4DB2-BD59-A6C34878D82A}">
                    <a16:rowId xmlns:a16="http://schemas.microsoft.com/office/drawing/2014/main" val="10002"/>
                  </a:ext>
                </a:extLst>
              </a:tr>
              <a:tr h="411956">
                <a:tc>
                  <a:txBody>
                    <a:bodyPr/>
                    <a:lstStyle/>
                    <a:p>
                      <a:pPr marL="0" indent="0">
                        <a:buNone/>
                      </a:pPr>
                      <a:r>
                        <a:rPr lang="en-US" sz="1200" dirty="0">
                          <a:solidFill>
                            <a:srgbClr val="475569"/>
                          </a:solidFill>
                          <a:latin typeface="Arial" pitchFamily="34" charset="0"/>
                          <a:ea typeface="Arial" pitchFamily="34" charset="-122"/>
                          <a:cs typeface="Arial" pitchFamily="34" charset="-120"/>
                        </a:rPr>
                        <a:t>style.css</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Stile per separazione visiva sezioni</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3" name="Text 0"/>
          <p:cNvSpPr/>
          <p:nvPr/>
        </p:nvSpPr>
        <p:spPr>
          <a:xfrm>
            <a:off x="609600" y="609600"/>
            <a:ext cx="8083296" cy="411480"/>
          </a:xfrm>
          <a:prstGeom prst="rect">
            <a:avLst/>
          </a:prstGeom>
          <a:noFill/>
          <a:ln/>
        </p:spPr>
        <p:txBody>
          <a:bodyPr wrap="square" lIns="0" tIns="0" rIns="0" bIns="0" rtlCol="0" anchor="t"/>
          <a:lstStyle/>
          <a:p>
            <a:pPr marL="0" indent="0">
              <a:lnSpc>
                <a:spcPts val="3240"/>
              </a:lnSpc>
              <a:buNone/>
            </a:pPr>
            <a:r>
              <a:rPr lang="en-US" sz="2700" b="1" dirty="0">
                <a:solidFill>
                  <a:srgbClr val="0284C7"/>
                </a:solidFill>
                <a:latin typeface="Arial" pitchFamily="34" charset="0"/>
                <a:ea typeface="Arial" pitchFamily="34" charset="-122"/>
                <a:cs typeface="Arial" pitchFamily="34" charset="-120"/>
              </a:rPr>
              <a:t>Frontend DApp</a:t>
            </a:r>
            <a:endParaRPr lang="en-US" sz="2700" dirty="0"/>
          </a:p>
        </p:txBody>
      </p:sp>
      <p:sp>
        <p:nvSpPr>
          <p:cNvPr id="4" name="Text 1"/>
          <p:cNvSpPr/>
          <p:nvPr/>
        </p:nvSpPr>
        <p:spPr>
          <a:xfrm>
            <a:off x="609600" y="1249682"/>
            <a:ext cx="7924800" cy="480060"/>
          </a:xfrm>
          <a:prstGeom prst="rect">
            <a:avLst/>
          </a:prstGeom>
          <a:noFill/>
          <a:ln/>
        </p:spPr>
        <p:txBody>
          <a:bodyPr wrap="square" lIns="0" tIns="0" rIns="0" bIns="0" rtlCol="0" anchor="t"/>
          <a:lstStyle/>
          <a:p>
            <a:pPr marL="0" indent="0">
              <a:lnSpc>
                <a:spcPts val="1890"/>
              </a:lnSpc>
              <a:buNone/>
            </a:pPr>
            <a:r>
              <a:rPr lang="en-US" sz="1350" dirty="0">
                <a:solidFill>
                  <a:srgbClr val="475569"/>
                </a:solidFill>
                <a:latin typeface="Arial" pitchFamily="34" charset="0"/>
                <a:ea typeface="Arial" pitchFamily="34" charset="-122"/>
                <a:cs typeface="Arial" pitchFamily="34" charset="-120"/>
              </a:rPr>
              <a:t>La DApp fornisce un'interfaccia web accessibile che connette MetaMask al contratto tramite ethers.js, riconoscendo automaticamente il ruolo dell'utente.</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09600" y="1882141"/>
          <a:ext cx="7924800" cy="1647824"/>
        </p:xfrm>
        <a:graphic>
          <a:graphicData uri="http://schemas.openxmlformats.org/drawingml/2006/table">
            <a:tbl>
              <a:tblPr/>
              <a:tblGrid>
                <a:gridCol w="3962400">
                  <a:extLst>
                    <a:ext uri="{9D8B030D-6E8A-4147-A177-3AD203B41FA5}">
                      <a16:colId xmlns:a16="http://schemas.microsoft.com/office/drawing/2014/main" val="20000"/>
                    </a:ext>
                  </a:extLst>
                </a:gridCol>
                <a:gridCol w="3962400">
                  <a:extLst>
                    <a:ext uri="{9D8B030D-6E8A-4147-A177-3AD203B41FA5}">
                      <a16:colId xmlns:a16="http://schemas.microsoft.com/office/drawing/2014/main" val="20001"/>
                    </a:ext>
                  </a:extLst>
                </a:gridCol>
              </a:tblGrid>
              <a:tr h="411956">
                <a:tc>
                  <a:txBody>
                    <a:bodyPr/>
                    <a:lstStyle/>
                    <a:p>
                      <a:pPr marL="0" indent="0" algn="l">
                        <a:buNone/>
                      </a:pPr>
                      <a:r>
                        <a:rPr lang="en-US" sz="1200" b="1" dirty="0">
                          <a:solidFill>
                            <a:srgbClr val="0284C7"/>
                          </a:solidFill>
                          <a:latin typeface="Arial" pitchFamily="34" charset="0"/>
                          <a:ea typeface="Arial" pitchFamily="34" charset="-122"/>
                          <a:cs typeface="Arial" pitchFamily="34" charset="-120"/>
                        </a:rPr>
                        <a:t>Fase</a:t>
                      </a:r>
                      <a:endParaRPr lang="en-US" sz="1200" dirty="0">
                        <a:latin typeface="Arial" charset="0"/>
                        <a:ea typeface="Arial" charset="0"/>
                        <a:cs typeface="Arial" charset="0"/>
                      </a:endParaRPr>
                    </a:p>
                  </a:txBody>
                  <a:tcPr anchor="ctr">
                    <a:lnL w="0" cap="flat" cmpd="sng" algn="ctr">
                      <a:noFill/>
                    </a:lnL>
                    <a:lnR w="0" cap="flat" cmpd="sng" algn="ctr">
                      <a:noFill/>
                    </a:lnR>
                    <a:lnT w="0" cap="flat" cmpd="sng" algn="ctr">
                      <a:noFill/>
                    </a:lnT>
                    <a:lnB w="12700" cap="flat" cmpd="sng" algn="ctr">
                      <a:solidFill>
                        <a:srgbClr val="E2E8F0"/>
                      </a:solidFill>
                      <a:prstDash val="solid"/>
                      <a:round/>
                      <a:headEnd type="none" w="med" len="med"/>
                      <a:tailEnd type="none" w="med" len="med"/>
                    </a:lnB>
                    <a:solidFill>
                      <a:srgbClr val="F1F5F9"/>
                    </a:solidFill>
                  </a:tcPr>
                </a:tc>
                <a:tc>
                  <a:txBody>
                    <a:bodyPr/>
                    <a:lstStyle/>
                    <a:p>
                      <a:pPr marL="0" indent="0" algn="l">
                        <a:buNone/>
                      </a:pPr>
                      <a:r>
                        <a:rPr lang="en-US" sz="1200" b="1" dirty="0">
                          <a:solidFill>
                            <a:srgbClr val="0284C7"/>
                          </a:solidFill>
                          <a:latin typeface="Arial" pitchFamily="34" charset="0"/>
                          <a:ea typeface="Arial" pitchFamily="34" charset="-122"/>
                          <a:cs typeface="Arial" pitchFamily="34" charset="-120"/>
                        </a:rPr>
                        <a:t>Azione</a:t>
                      </a:r>
                      <a:endParaRPr lang="en-US" sz="1200" dirty="0">
                        <a:latin typeface="Arial" charset="0"/>
                        <a:ea typeface="Arial" charset="0"/>
                        <a:cs typeface="Arial" charset="0"/>
                      </a:endParaRPr>
                    </a:p>
                  </a:txBody>
                  <a:tcPr anchor="ctr">
                    <a:lnL w="0" cap="flat" cmpd="sng" algn="ctr">
                      <a:noFill/>
                    </a:lnL>
                    <a:lnR w="0" cap="flat" cmpd="sng" algn="ctr">
                      <a:noFill/>
                    </a:lnR>
                    <a:lnT w="0" cap="flat" cmpd="sng" algn="ctr">
                      <a:noFill/>
                    </a:lnT>
                    <a:lnB w="1270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0"/>
                  </a:ext>
                </a:extLst>
              </a:tr>
              <a:tr h="411956">
                <a:tc>
                  <a:txBody>
                    <a:bodyPr/>
                    <a:lstStyle/>
                    <a:p>
                      <a:pPr marL="0" indent="0">
                        <a:buNone/>
                      </a:pPr>
                      <a:r>
                        <a:rPr lang="en-US" sz="1200" dirty="0">
                          <a:solidFill>
                            <a:srgbClr val="475569"/>
                          </a:solidFill>
                          <a:latin typeface="Arial" pitchFamily="34" charset="0"/>
                          <a:ea typeface="Arial" pitchFamily="34" charset="-122"/>
                          <a:cs typeface="Arial" pitchFamily="34" charset="-120"/>
                        </a:rPr>
                        <a:t>1. Setup</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Admin registra area 101 e operatori</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411956">
                <a:tc>
                  <a:txBody>
                    <a:bodyPr/>
                    <a:lstStyle/>
                    <a:p>
                      <a:pPr marL="0" indent="0">
                        <a:buNone/>
                      </a:pPr>
                      <a:r>
                        <a:rPr lang="en-US" sz="1200" dirty="0">
                          <a:solidFill>
                            <a:srgbClr val="475569"/>
                          </a:solidFill>
                          <a:latin typeface="Arial" pitchFamily="34" charset="0"/>
                          <a:ea typeface="Arial" pitchFamily="34" charset="-122"/>
                          <a:cs typeface="Arial" pitchFamily="34" charset="-120"/>
                        </a:rPr>
                        <a:t>2. Sanificazione</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Operatore registra intervento giornaliero</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extLst>
                  <a:ext uri="{0D108BD9-81ED-4DB2-BD59-A6C34878D82A}">
                    <a16:rowId xmlns:a16="http://schemas.microsoft.com/office/drawing/2014/main" val="10002"/>
                  </a:ext>
                </a:extLst>
              </a:tr>
              <a:tr h="411956">
                <a:tc>
                  <a:txBody>
                    <a:bodyPr/>
                    <a:lstStyle/>
                    <a:p>
                      <a:pPr marL="0" indent="0">
                        <a:buNone/>
                      </a:pPr>
                      <a:r>
                        <a:rPr lang="en-US" sz="1200" dirty="0">
                          <a:solidFill>
                            <a:srgbClr val="475569"/>
                          </a:solidFill>
                          <a:latin typeface="Arial" pitchFamily="34" charset="0"/>
                          <a:ea typeface="Arial" pitchFamily="34" charset="-122"/>
                          <a:cs typeface="Arial" pitchFamily="34" charset="-120"/>
                        </a:rPr>
                        <a:t>3. Audit</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Storico completo con timestamp verificabili</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3" name="Text 0"/>
          <p:cNvSpPr/>
          <p:nvPr/>
        </p:nvSpPr>
        <p:spPr>
          <a:xfrm>
            <a:off x="609600" y="609600"/>
            <a:ext cx="8083296" cy="411480"/>
          </a:xfrm>
          <a:prstGeom prst="rect">
            <a:avLst/>
          </a:prstGeom>
          <a:noFill/>
          <a:ln/>
        </p:spPr>
        <p:txBody>
          <a:bodyPr wrap="square" lIns="0" tIns="0" rIns="0" bIns="0" rtlCol="0" anchor="t"/>
          <a:lstStyle/>
          <a:p>
            <a:pPr marL="0" indent="0">
              <a:lnSpc>
                <a:spcPts val="3240"/>
              </a:lnSpc>
              <a:buNone/>
            </a:pPr>
            <a:r>
              <a:rPr lang="en-US" sz="2700" b="1" dirty="0">
                <a:solidFill>
                  <a:srgbClr val="0284C7"/>
                </a:solidFill>
                <a:latin typeface="Arial" pitchFamily="34" charset="0"/>
                <a:ea typeface="Arial" pitchFamily="34" charset="-122"/>
                <a:cs typeface="Arial" pitchFamily="34" charset="-120"/>
              </a:rPr>
              <a:t>Caso d'Uso: Sala Operatoria 101</a:t>
            </a:r>
            <a:endParaRPr lang="en-US" sz="2700" dirty="0"/>
          </a:p>
        </p:txBody>
      </p:sp>
      <p:sp>
        <p:nvSpPr>
          <p:cNvPr id="4" name="Text 1"/>
          <p:cNvSpPr/>
          <p:nvPr/>
        </p:nvSpPr>
        <p:spPr>
          <a:xfrm>
            <a:off x="609600" y="1249682"/>
            <a:ext cx="7924800" cy="480060"/>
          </a:xfrm>
          <a:prstGeom prst="rect">
            <a:avLst/>
          </a:prstGeom>
          <a:noFill/>
          <a:ln/>
        </p:spPr>
        <p:txBody>
          <a:bodyPr wrap="square" lIns="0" tIns="0" rIns="0" bIns="0" rtlCol="0" anchor="t"/>
          <a:lstStyle/>
          <a:p>
            <a:pPr marL="0" indent="0">
              <a:lnSpc>
                <a:spcPts val="1890"/>
              </a:lnSpc>
              <a:buNone/>
            </a:pPr>
            <a:r>
              <a:rPr lang="en-US" sz="1350" dirty="0">
                <a:solidFill>
                  <a:srgbClr val="475569"/>
                </a:solidFill>
                <a:latin typeface="Arial" pitchFamily="34" charset="0"/>
                <a:ea typeface="Arial" pitchFamily="34" charset="-122"/>
                <a:cs typeface="Arial" pitchFamily="34" charset="-120"/>
              </a:rPr>
              <a:t>Un ospedale decide di monitorare in modo rigoroso la sanificazione della sala operatoria 101 con il seguente flusso operativo:</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09600" y="1882136"/>
          <a:ext cx="7924800" cy="2057400"/>
        </p:xfrm>
        <a:graphic>
          <a:graphicData uri="http://schemas.openxmlformats.org/drawingml/2006/table">
            <a:tbl>
              <a:tblPr/>
              <a:tblGrid>
                <a:gridCol w="3962400">
                  <a:extLst>
                    <a:ext uri="{9D8B030D-6E8A-4147-A177-3AD203B41FA5}">
                      <a16:colId xmlns:a16="http://schemas.microsoft.com/office/drawing/2014/main" val="20000"/>
                    </a:ext>
                  </a:extLst>
                </a:gridCol>
                <a:gridCol w="3962400">
                  <a:extLst>
                    <a:ext uri="{9D8B030D-6E8A-4147-A177-3AD203B41FA5}">
                      <a16:colId xmlns:a16="http://schemas.microsoft.com/office/drawing/2014/main" val="20001"/>
                    </a:ext>
                  </a:extLst>
                </a:gridCol>
              </a:tblGrid>
              <a:tr h="411480">
                <a:tc>
                  <a:txBody>
                    <a:bodyPr/>
                    <a:lstStyle/>
                    <a:p>
                      <a:pPr marL="0" indent="0" algn="l">
                        <a:buNone/>
                      </a:pPr>
                      <a:r>
                        <a:rPr lang="en-US" sz="1200" b="1" dirty="0">
                          <a:solidFill>
                            <a:srgbClr val="0284C7"/>
                          </a:solidFill>
                          <a:latin typeface="Arial" pitchFamily="34" charset="0"/>
                          <a:ea typeface="Arial" pitchFamily="34" charset="-122"/>
                          <a:cs typeface="Arial" pitchFamily="34" charset="-120"/>
                        </a:rPr>
                        <a:t>Vantaggio</a:t>
                      </a:r>
                      <a:endParaRPr lang="en-US" sz="1200" dirty="0">
                        <a:latin typeface="Arial" charset="0"/>
                        <a:ea typeface="Arial" charset="0"/>
                        <a:cs typeface="Arial" charset="0"/>
                      </a:endParaRPr>
                    </a:p>
                  </a:txBody>
                  <a:tcPr anchor="ctr">
                    <a:lnL w="0" cap="flat" cmpd="sng" algn="ctr">
                      <a:noFill/>
                    </a:lnL>
                    <a:lnR w="0" cap="flat" cmpd="sng" algn="ctr">
                      <a:noFill/>
                    </a:lnR>
                    <a:lnT w="0" cap="flat" cmpd="sng" algn="ctr">
                      <a:noFill/>
                    </a:lnT>
                    <a:lnB w="12700" cap="flat" cmpd="sng" algn="ctr">
                      <a:solidFill>
                        <a:srgbClr val="E2E8F0"/>
                      </a:solidFill>
                      <a:prstDash val="solid"/>
                      <a:round/>
                      <a:headEnd type="none" w="med" len="med"/>
                      <a:tailEnd type="none" w="med" len="med"/>
                    </a:lnB>
                    <a:solidFill>
                      <a:srgbClr val="F1F5F9"/>
                    </a:solidFill>
                  </a:tcPr>
                </a:tc>
                <a:tc>
                  <a:txBody>
                    <a:bodyPr/>
                    <a:lstStyle/>
                    <a:p>
                      <a:pPr marL="0" indent="0" algn="l">
                        <a:buNone/>
                      </a:pPr>
                      <a:r>
                        <a:rPr lang="en-US" sz="1200" b="1" dirty="0">
                          <a:solidFill>
                            <a:srgbClr val="0284C7"/>
                          </a:solidFill>
                          <a:latin typeface="Arial" pitchFamily="34" charset="0"/>
                          <a:ea typeface="Arial" pitchFamily="34" charset="-122"/>
                          <a:cs typeface="Arial" pitchFamily="34" charset="-120"/>
                        </a:rPr>
                        <a:t>Impatto Pratico</a:t>
                      </a:r>
                      <a:endParaRPr lang="en-US" sz="1200" dirty="0">
                        <a:latin typeface="Arial" charset="0"/>
                        <a:ea typeface="Arial" charset="0"/>
                        <a:cs typeface="Arial" charset="0"/>
                      </a:endParaRPr>
                    </a:p>
                  </a:txBody>
                  <a:tcPr anchor="ctr">
                    <a:lnL w="0" cap="flat" cmpd="sng" algn="ctr">
                      <a:noFill/>
                    </a:lnL>
                    <a:lnR w="0" cap="flat" cmpd="sng" algn="ctr">
                      <a:noFill/>
                    </a:lnR>
                    <a:lnT w="0" cap="flat" cmpd="sng" algn="ctr">
                      <a:noFill/>
                    </a:lnT>
                    <a:lnB w="1270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0"/>
                  </a:ext>
                </a:extLst>
              </a:tr>
              <a:tr h="411480">
                <a:tc>
                  <a:txBody>
                    <a:bodyPr/>
                    <a:lstStyle/>
                    <a:p>
                      <a:pPr marL="0" indent="0">
                        <a:buNone/>
                      </a:pPr>
                      <a:r>
                        <a:rPr lang="en-US" sz="1200" dirty="0">
                          <a:solidFill>
                            <a:srgbClr val="475569"/>
                          </a:solidFill>
                          <a:latin typeface="Arial" pitchFamily="34" charset="0"/>
                          <a:ea typeface="Arial" pitchFamily="34" charset="-122"/>
                          <a:cs typeface="Arial" pitchFamily="34" charset="-120"/>
                        </a:rPr>
                        <a:t>Immutabilità</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Impossibile alterare dati storici</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411480">
                <a:tc>
                  <a:txBody>
                    <a:bodyPr/>
                    <a:lstStyle/>
                    <a:p>
                      <a:pPr marL="0" indent="0">
                        <a:buNone/>
                      </a:pPr>
                      <a:r>
                        <a:rPr lang="en-US" sz="1200" dirty="0">
                          <a:solidFill>
                            <a:srgbClr val="475569"/>
                          </a:solidFill>
                          <a:latin typeface="Arial" pitchFamily="34" charset="0"/>
                          <a:ea typeface="Arial" pitchFamily="34" charset="-122"/>
                          <a:cs typeface="Arial" pitchFamily="34" charset="-120"/>
                        </a:rPr>
                        <a:t>Trasparenza</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Verificabile da autorità di controllo</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extLst>
                  <a:ext uri="{0D108BD9-81ED-4DB2-BD59-A6C34878D82A}">
                    <a16:rowId xmlns:a16="http://schemas.microsoft.com/office/drawing/2014/main" val="10002"/>
                  </a:ext>
                </a:extLst>
              </a:tr>
              <a:tr h="411480">
                <a:tc>
                  <a:txBody>
                    <a:bodyPr/>
                    <a:lstStyle/>
                    <a:p>
                      <a:pPr marL="0" indent="0">
                        <a:buNone/>
                      </a:pPr>
                      <a:r>
                        <a:rPr lang="en-US" sz="1200" dirty="0">
                          <a:solidFill>
                            <a:srgbClr val="475569"/>
                          </a:solidFill>
                          <a:latin typeface="Arial" pitchFamily="34" charset="0"/>
                          <a:ea typeface="Arial" pitchFamily="34" charset="-122"/>
                          <a:cs typeface="Arial" pitchFamily="34" charset="-120"/>
                        </a:rPr>
                        <a:t>Responsabilità</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Identità operatore certificata</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411480">
                <a:tc>
                  <a:txBody>
                    <a:bodyPr/>
                    <a:lstStyle/>
                    <a:p>
                      <a:pPr marL="0" indent="0">
                        <a:buNone/>
                      </a:pPr>
                      <a:r>
                        <a:rPr lang="en-US" sz="1200" dirty="0">
                          <a:solidFill>
                            <a:srgbClr val="475569"/>
                          </a:solidFill>
                          <a:latin typeface="Arial" pitchFamily="34" charset="0"/>
                          <a:ea typeface="Arial" pitchFamily="34" charset="-122"/>
                          <a:cs typeface="Arial" pitchFamily="34" charset="-120"/>
                        </a:rPr>
                        <a:t>Conformità</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marL="0" indent="0">
                        <a:buNone/>
                      </a:pPr>
                      <a:r>
                        <a:rPr lang="en-US" sz="1200" dirty="0">
                          <a:solidFill>
                            <a:srgbClr val="475569"/>
                          </a:solidFill>
                          <a:latin typeface="Arial" pitchFamily="34" charset="0"/>
                          <a:ea typeface="Arial" pitchFamily="34" charset="-122"/>
                          <a:cs typeface="Arial" pitchFamily="34" charset="-120"/>
                        </a:rPr>
                        <a:t>Gestione rischio e audit facilitati</a:t>
                      </a:r>
                      <a:endParaRPr lang="en-US" sz="1200" dirty="0">
                        <a:latin typeface="Arial" charset="0"/>
                        <a:ea typeface="Arial" charset="0"/>
                        <a:cs typeface="Arial" charset="0"/>
                      </a:endParaRPr>
                    </a:p>
                  </a:txBody>
                  <a:tcPr anchor="ctr">
                    <a:lnL w="0" cap="flat" cmpd="sng" algn="ctr">
                      <a:noFill/>
                    </a:lnL>
                    <a:lnR w="0" cap="flat" cmpd="sng" algn="ctr">
                      <a:noFill/>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extLst>
                  <a:ext uri="{0D108BD9-81ED-4DB2-BD59-A6C34878D82A}">
                    <a16:rowId xmlns:a16="http://schemas.microsoft.com/office/drawing/2014/main" val="10004"/>
                  </a:ext>
                </a:extLst>
              </a:tr>
            </a:tbl>
          </a:graphicData>
        </a:graphic>
      </p:graphicFrame>
      <p:sp>
        <p:nvSpPr>
          <p:cNvPr id="3" name="Text 0"/>
          <p:cNvSpPr/>
          <p:nvPr/>
        </p:nvSpPr>
        <p:spPr>
          <a:xfrm>
            <a:off x="609600" y="609600"/>
            <a:ext cx="8083296" cy="411480"/>
          </a:xfrm>
          <a:prstGeom prst="rect">
            <a:avLst/>
          </a:prstGeom>
          <a:noFill/>
          <a:ln/>
        </p:spPr>
        <p:txBody>
          <a:bodyPr wrap="square" lIns="0" tIns="0" rIns="0" bIns="0" rtlCol="0" anchor="t"/>
          <a:lstStyle/>
          <a:p>
            <a:pPr marL="0" indent="0">
              <a:lnSpc>
                <a:spcPts val="3240"/>
              </a:lnSpc>
              <a:buNone/>
            </a:pPr>
            <a:r>
              <a:rPr lang="en-US" sz="2700" b="1" dirty="0">
                <a:solidFill>
                  <a:srgbClr val="0284C7"/>
                </a:solidFill>
                <a:latin typeface="Arial" pitchFamily="34" charset="0"/>
                <a:ea typeface="Arial" pitchFamily="34" charset="-122"/>
                <a:cs typeface="Arial" pitchFamily="34" charset="-120"/>
              </a:rPr>
              <a:t>Vantaggi della Soluzione</a:t>
            </a:r>
            <a:endParaRPr lang="en-US" sz="2700" dirty="0"/>
          </a:p>
        </p:txBody>
      </p:sp>
      <p:sp>
        <p:nvSpPr>
          <p:cNvPr id="4" name="Text 1"/>
          <p:cNvSpPr/>
          <p:nvPr/>
        </p:nvSpPr>
        <p:spPr>
          <a:xfrm>
            <a:off x="609600" y="1249682"/>
            <a:ext cx="7924800" cy="480060"/>
          </a:xfrm>
          <a:prstGeom prst="rect">
            <a:avLst/>
          </a:prstGeom>
          <a:noFill/>
          <a:ln/>
        </p:spPr>
        <p:txBody>
          <a:bodyPr wrap="square" lIns="0" tIns="0" rIns="0" bIns="0" rtlCol="0" anchor="t"/>
          <a:lstStyle/>
          <a:p>
            <a:pPr marL="0" indent="0">
              <a:lnSpc>
                <a:spcPts val="1890"/>
              </a:lnSpc>
              <a:buNone/>
            </a:pPr>
            <a:r>
              <a:rPr lang="en-US" sz="1350" dirty="0">
                <a:solidFill>
                  <a:srgbClr val="475569"/>
                </a:solidFill>
                <a:latin typeface="Arial" pitchFamily="34" charset="0"/>
                <a:ea typeface="Arial" pitchFamily="34" charset="-122"/>
                <a:cs typeface="Arial" pitchFamily="34" charset="-120"/>
              </a:rPr>
              <a:t>La soluzione blockchain offre vantaggi concreti rispetto ai sistemi tradizionali per la gestione della tracciabilità ospedaliera.</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1642114"/>
            <a:ext cx="7924800" cy="1040924"/>
          </a:xfrm>
          <a:prstGeom prst="rect">
            <a:avLst/>
          </a:prstGeom>
          <a:solidFill>
            <a:srgbClr val="F1F5F9"/>
          </a:solidFill>
          <a:ln/>
        </p:spPr>
        <p:txBody>
          <a:bodyPr wrap="none" lIns="0" tIns="0" rIns="0" bIns="0" rtlCol="0" anchor="ctr">
            <a:normAutofit/>
          </a:bodyPr>
          <a:lstStyle/>
          <a:p>
            <a:pPr marL="0" indent="0">
              <a:buNone/>
            </a:pPr>
            <a:endParaRPr lang="en-US" dirty="0"/>
          </a:p>
        </p:txBody>
      </p:sp>
      <p:sp>
        <p:nvSpPr>
          <p:cNvPr id="3" name="Text 1"/>
          <p:cNvSpPr/>
          <p:nvPr/>
        </p:nvSpPr>
        <p:spPr>
          <a:xfrm>
            <a:off x="609600" y="2683036"/>
            <a:ext cx="7924800" cy="1040924"/>
          </a:xfrm>
          <a:prstGeom prst="rect">
            <a:avLst/>
          </a:prstGeom>
          <a:solidFill>
            <a:srgbClr val="F1F5F9"/>
          </a:solidFill>
          <a:ln/>
        </p:spPr>
        <p:txBody>
          <a:bodyPr wrap="none" lIns="0" tIns="0" rIns="0" bIns="0" rtlCol="0" anchor="ctr">
            <a:normAutofit/>
          </a:bodyPr>
          <a:lstStyle/>
          <a:p>
            <a:pPr marL="0" indent="0">
              <a:buNone/>
            </a:pPr>
            <a:endParaRPr lang="en-US" dirty="0"/>
          </a:p>
        </p:txBody>
      </p:sp>
      <p:sp>
        <p:nvSpPr>
          <p:cNvPr id="4" name="Text 2"/>
          <p:cNvSpPr/>
          <p:nvPr/>
        </p:nvSpPr>
        <p:spPr>
          <a:xfrm>
            <a:off x="609600" y="609600"/>
            <a:ext cx="8083296" cy="411480"/>
          </a:xfrm>
          <a:prstGeom prst="rect">
            <a:avLst/>
          </a:prstGeom>
          <a:noFill/>
          <a:ln/>
        </p:spPr>
        <p:txBody>
          <a:bodyPr wrap="square" lIns="0" tIns="0" rIns="0" bIns="0" rtlCol="0" anchor="t"/>
          <a:lstStyle/>
          <a:p>
            <a:pPr marL="0" indent="0">
              <a:lnSpc>
                <a:spcPts val="3240"/>
              </a:lnSpc>
              <a:buNone/>
            </a:pPr>
            <a:r>
              <a:rPr lang="en-US" sz="2700" b="1" dirty="0">
                <a:solidFill>
                  <a:srgbClr val="0284C7"/>
                </a:solidFill>
                <a:latin typeface="Arial" pitchFamily="34" charset="0"/>
                <a:ea typeface="Arial" pitchFamily="34" charset="-122"/>
                <a:cs typeface="Arial" pitchFamily="34" charset="-120"/>
              </a:rPr>
              <a:t>Limiti e Sviluppi Futuri</a:t>
            </a:r>
            <a:endParaRPr lang="en-US" sz="2700" dirty="0"/>
          </a:p>
        </p:txBody>
      </p:sp>
      <p:sp>
        <p:nvSpPr>
          <p:cNvPr id="5" name="Text 3"/>
          <p:cNvSpPr/>
          <p:nvPr/>
        </p:nvSpPr>
        <p:spPr>
          <a:xfrm>
            <a:off x="609600" y="1249682"/>
            <a:ext cx="8083296" cy="240030"/>
          </a:xfrm>
          <a:prstGeom prst="rect">
            <a:avLst/>
          </a:prstGeom>
          <a:noFill/>
          <a:ln/>
        </p:spPr>
        <p:txBody>
          <a:bodyPr wrap="square" lIns="0" tIns="0" rIns="0" bIns="0" rtlCol="0" anchor="t"/>
          <a:lstStyle/>
          <a:p>
            <a:pPr marL="0" indent="0">
              <a:lnSpc>
                <a:spcPts val="1890"/>
              </a:lnSpc>
              <a:buNone/>
            </a:pPr>
            <a:r>
              <a:rPr lang="en-US" sz="1350" dirty="0">
                <a:solidFill>
                  <a:srgbClr val="475569"/>
                </a:solidFill>
                <a:latin typeface="Arial" pitchFamily="34" charset="0"/>
                <a:ea typeface="Arial" pitchFamily="34" charset="-122"/>
                <a:cs typeface="Arial" pitchFamily="34" charset="-120"/>
              </a:rPr>
              <a:t>Il sistema presenta margini di miglioramento per applicazioni reali più complesse.</a:t>
            </a:r>
            <a:endParaRPr lang="en-US" sz="1350" dirty="0"/>
          </a:p>
        </p:txBody>
      </p:sp>
      <p:sp>
        <p:nvSpPr>
          <p:cNvPr id="6" name="Text 4"/>
          <p:cNvSpPr/>
          <p:nvPr/>
        </p:nvSpPr>
        <p:spPr>
          <a:xfrm>
            <a:off x="838200" y="1870714"/>
            <a:ext cx="7616952" cy="228600"/>
          </a:xfrm>
          <a:prstGeom prst="rect">
            <a:avLst/>
          </a:prstGeom>
          <a:noFill/>
          <a:ln/>
        </p:spPr>
        <p:txBody>
          <a:bodyPr wrap="square" lIns="0" tIns="0" rIns="0" bIns="0" rtlCol="0" anchor="t"/>
          <a:lstStyle/>
          <a:p>
            <a:pPr marL="0" indent="0">
              <a:lnSpc>
                <a:spcPts val="1800"/>
              </a:lnSpc>
              <a:buNone/>
            </a:pPr>
            <a:r>
              <a:rPr lang="en-US" sz="1500" b="1" dirty="0">
                <a:solidFill>
                  <a:srgbClr val="0284C7"/>
                </a:solidFill>
                <a:latin typeface="Arial" pitchFamily="34" charset="0"/>
                <a:ea typeface="Arial" pitchFamily="34" charset="-122"/>
                <a:cs typeface="Arial" pitchFamily="34" charset="-120"/>
              </a:rPr>
              <a:t>Limiti Attuali</a:t>
            </a:r>
            <a:endParaRPr lang="en-US" sz="1500" dirty="0"/>
          </a:p>
        </p:txBody>
      </p:sp>
      <p:sp>
        <p:nvSpPr>
          <p:cNvPr id="7" name="Text 5"/>
          <p:cNvSpPr/>
          <p:nvPr/>
        </p:nvSpPr>
        <p:spPr>
          <a:xfrm>
            <a:off x="838200" y="2251714"/>
            <a:ext cx="7616952" cy="202724"/>
          </a:xfrm>
          <a:prstGeom prst="rect">
            <a:avLst/>
          </a:prstGeom>
          <a:noFill/>
          <a:ln/>
        </p:spPr>
        <p:txBody>
          <a:bodyPr wrap="square" lIns="0" tIns="0" rIns="0" bIns="0" rtlCol="0" anchor="t"/>
          <a:lstStyle/>
          <a:p>
            <a:pPr marL="0" indent="0">
              <a:lnSpc>
                <a:spcPts val="1596"/>
              </a:lnSpc>
              <a:buNone/>
            </a:pPr>
            <a:r>
              <a:rPr lang="en-US" sz="1140" dirty="0">
                <a:solidFill>
                  <a:srgbClr val="475569"/>
                </a:solidFill>
                <a:latin typeface="Arial" pitchFamily="34" charset="0"/>
                <a:ea typeface="Arial" pitchFamily="34" charset="-122"/>
                <a:cs typeface="Arial" pitchFamily="34" charset="-120"/>
              </a:rPr>
              <a:t>Dati essenziali on-chain, nessun ruolo auditor, frontend vanilla JS</a:t>
            </a:r>
            <a:endParaRPr lang="en-US" sz="1140" dirty="0"/>
          </a:p>
        </p:txBody>
      </p:sp>
      <p:sp>
        <p:nvSpPr>
          <p:cNvPr id="8" name="Text 6"/>
          <p:cNvSpPr/>
          <p:nvPr/>
        </p:nvSpPr>
        <p:spPr>
          <a:xfrm>
            <a:off x="838200" y="2911636"/>
            <a:ext cx="7616952" cy="228600"/>
          </a:xfrm>
          <a:prstGeom prst="rect">
            <a:avLst/>
          </a:prstGeom>
          <a:noFill/>
          <a:ln/>
        </p:spPr>
        <p:txBody>
          <a:bodyPr wrap="square" lIns="0" tIns="0" rIns="0" bIns="0" rtlCol="0" anchor="t"/>
          <a:lstStyle/>
          <a:p>
            <a:pPr marL="0" indent="0">
              <a:lnSpc>
                <a:spcPts val="1800"/>
              </a:lnSpc>
              <a:buNone/>
            </a:pPr>
            <a:r>
              <a:rPr lang="en-US" sz="1500" b="1" dirty="0">
                <a:solidFill>
                  <a:srgbClr val="0284C7"/>
                </a:solidFill>
                <a:latin typeface="Arial" pitchFamily="34" charset="0"/>
                <a:ea typeface="Arial" pitchFamily="34" charset="-122"/>
                <a:cs typeface="Arial" pitchFamily="34" charset="-120"/>
              </a:rPr>
              <a:t>Sviluppi Futuri</a:t>
            </a:r>
            <a:endParaRPr lang="en-US" sz="1500" dirty="0"/>
          </a:p>
        </p:txBody>
      </p:sp>
      <p:sp>
        <p:nvSpPr>
          <p:cNvPr id="9" name="Text 7"/>
          <p:cNvSpPr/>
          <p:nvPr/>
        </p:nvSpPr>
        <p:spPr>
          <a:xfrm>
            <a:off x="838200" y="3292636"/>
            <a:ext cx="7616952" cy="202724"/>
          </a:xfrm>
          <a:prstGeom prst="rect">
            <a:avLst/>
          </a:prstGeom>
          <a:noFill/>
          <a:ln/>
        </p:spPr>
        <p:txBody>
          <a:bodyPr wrap="square" lIns="0" tIns="0" rIns="0" bIns="0" rtlCol="0" anchor="t"/>
          <a:lstStyle/>
          <a:p>
            <a:pPr marL="0" indent="0">
              <a:lnSpc>
                <a:spcPts val="1596"/>
              </a:lnSpc>
              <a:buNone/>
            </a:pPr>
            <a:r>
              <a:rPr lang="en-US" sz="1140" dirty="0">
                <a:solidFill>
                  <a:srgbClr val="475569"/>
                </a:solidFill>
                <a:latin typeface="Arial" pitchFamily="34" charset="0"/>
                <a:ea typeface="Arial" pitchFamily="34" charset="-122"/>
                <a:cs typeface="Arial" pitchFamily="34" charset="-120"/>
              </a:rPr>
              <a:t>Ruoli intermedi, notifiche automatiche, migrazione React, integrazione off-chain</a:t>
            </a:r>
            <a:endParaRPr lang="en-US" sz="114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609600"/>
            <a:ext cx="8083296" cy="411480"/>
          </a:xfrm>
          <a:prstGeom prst="rect">
            <a:avLst/>
          </a:prstGeom>
          <a:noFill/>
          <a:ln/>
        </p:spPr>
        <p:txBody>
          <a:bodyPr wrap="square" lIns="0" tIns="0" rIns="0" bIns="0" rtlCol="0" anchor="t"/>
          <a:lstStyle/>
          <a:p>
            <a:pPr marL="0" indent="0">
              <a:lnSpc>
                <a:spcPts val="3240"/>
              </a:lnSpc>
              <a:buNone/>
            </a:pPr>
            <a:r>
              <a:rPr lang="en-US" sz="2700" b="1" dirty="0">
                <a:solidFill>
                  <a:srgbClr val="0284C7"/>
                </a:solidFill>
                <a:latin typeface="Arial" pitchFamily="34" charset="0"/>
                <a:ea typeface="Arial" pitchFamily="34" charset="-122"/>
                <a:cs typeface="Arial" pitchFamily="34" charset="-120"/>
              </a:rPr>
              <a:t>Conclusioni</a:t>
            </a:r>
            <a:endParaRPr lang="en-US" sz="2700" dirty="0"/>
          </a:p>
        </p:txBody>
      </p:sp>
      <p:sp>
        <p:nvSpPr>
          <p:cNvPr id="3" name="Text 1"/>
          <p:cNvSpPr/>
          <p:nvPr/>
        </p:nvSpPr>
        <p:spPr>
          <a:xfrm>
            <a:off x="609600" y="1325882"/>
            <a:ext cx="7924800" cy="914400"/>
          </a:xfrm>
          <a:prstGeom prst="rect">
            <a:avLst/>
          </a:prstGeom>
          <a:noFill/>
          <a:ln/>
        </p:spPr>
        <p:txBody>
          <a:bodyPr wrap="square" lIns="0" tIns="0" rIns="0" bIns="0" rtlCol="0" anchor="t"/>
          <a:lstStyle/>
          <a:p>
            <a:pPr marL="0" indent="0">
              <a:lnSpc>
                <a:spcPts val="2400"/>
              </a:lnSpc>
              <a:buNone/>
            </a:pPr>
            <a:r>
              <a:rPr lang="en-US" sz="1500" dirty="0">
                <a:solidFill>
                  <a:srgbClr val="475569"/>
                </a:solidFill>
                <a:latin typeface="Arial" pitchFamily="34" charset="0"/>
                <a:ea typeface="Arial" pitchFamily="34" charset="-122"/>
                <a:cs typeface="Arial" pitchFamily="34" charset="-120"/>
              </a:rPr>
              <a:t>HospitalSanitizationTracker dimostra come un singolo smart contract, abbinato a una DApp leggera, sia sufficiente per costruire un sistema di tracciabilità credibile per le sanificazioni ospedaliere.</a:t>
            </a:r>
            <a:endParaRPr lang="en-US" sz="1500" dirty="0"/>
          </a:p>
        </p:txBody>
      </p:sp>
      <p:sp>
        <p:nvSpPr>
          <p:cNvPr id="4" name="Text 2"/>
          <p:cNvSpPr/>
          <p:nvPr/>
        </p:nvSpPr>
        <p:spPr>
          <a:xfrm>
            <a:off x="609600" y="2468882"/>
            <a:ext cx="7924800" cy="480060"/>
          </a:xfrm>
          <a:prstGeom prst="rect">
            <a:avLst/>
          </a:prstGeom>
          <a:noFill/>
          <a:ln/>
        </p:spPr>
        <p:txBody>
          <a:bodyPr wrap="square" lIns="0" tIns="0" rIns="0" bIns="0" rtlCol="0" anchor="t"/>
          <a:lstStyle/>
          <a:p>
            <a:pPr marL="0" indent="0">
              <a:lnSpc>
                <a:spcPts val="1890"/>
              </a:lnSpc>
              <a:buNone/>
            </a:pPr>
            <a:r>
              <a:rPr lang="en-US" sz="1350" dirty="0">
                <a:solidFill>
                  <a:srgbClr val="475569"/>
                </a:solidFill>
                <a:latin typeface="Arial" pitchFamily="34" charset="0"/>
                <a:ea typeface="Arial" pitchFamily="34" charset="-122"/>
                <a:cs typeface="Arial" pitchFamily="34" charset="-120"/>
              </a:rPr>
              <a:t>La distinzione tra admin e operatori, unita alla persistenza immutabile on-chain, offre una base solida per applicazioni di tracciabilità sempre più vicine alle esigenze del mondo reale.</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284C7"/>
        </a:solidFill>
        <a:effectLst/>
      </p:bgPr>
    </p:bg>
    <p:spTree>
      <p:nvGrpSpPr>
        <p:cNvPr id="1" name=""/>
        <p:cNvGrpSpPr/>
        <p:nvPr/>
      </p:nvGrpSpPr>
      <p:grpSpPr>
        <a:xfrm>
          <a:off x="0" y="0"/>
          <a:ext cx="0" cy="0"/>
          <a:chOff x="0" y="0"/>
          <a:chExt cx="0" cy="0"/>
        </a:xfrm>
      </p:grpSpPr>
      <p:sp>
        <p:nvSpPr>
          <p:cNvPr id="2" name="Text 0"/>
          <p:cNvSpPr/>
          <p:nvPr/>
        </p:nvSpPr>
        <p:spPr>
          <a:xfrm>
            <a:off x="1977152" y="1765939"/>
            <a:ext cx="5189696" cy="548640"/>
          </a:xfrm>
          <a:prstGeom prst="rect">
            <a:avLst/>
          </a:prstGeom>
          <a:noFill/>
          <a:ln/>
        </p:spPr>
        <p:txBody>
          <a:bodyPr wrap="square" lIns="0" tIns="0" rIns="0" bIns="0" rtlCol="0" anchor="t"/>
          <a:lstStyle/>
          <a:p>
            <a:pPr marL="0" indent="0" algn="ctr">
              <a:lnSpc>
                <a:spcPts val="4320"/>
              </a:lnSpc>
              <a:buNone/>
            </a:pPr>
            <a:r>
              <a:rPr lang="en-US" sz="3600" b="1" dirty="0">
                <a:solidFill>
                  <a:srgbClr val="FFFFFF"/>
                </a:solidFill>
                <a:latin typeface="Arial" pitchFamily="34" charset="0"/>
                <a:ea typeface="Arial" pitchFamily="34" charset="-122"/>
                <a:cs typeface="Arial" pitchFamily="34" charset="-120"/>
              </a:rPr>
              <a:t>Grazie per l'Attenzione!</a:t>
            </a:r>
            <a:endParaRPr lang="en-US" sz="3600" dirty="0"/>
          </a:p>
        </p:txBody>
      </p:sp>
      <p:sp>
        <p:nvSpPr>
          <p:cNvPr id="4" name="Text 2"/>
          <p:cNvSpPr/>
          <p:nvPr/>
        </p:nvSpPr>
        <p:spPr>
          <a:xfrm>
            <a:off x="2230241" y="2735577"/>
            <a:ext cx="4683519" cy="186690"/>
          </a:xfrm>
          <a:prstGeom prst="rect">
            <a:avLst/>
          </a:prstGeom>
          <a:noFill/>
          <a:ln/>
        </p:spPr>
        <p:txBody>
          <a:bodyPr wrap="square" lIns="0" tIns="0" rIns="0" bIns="0" rtlCol="0" anchor="t"/>
          <a:lstStyle/>
          <a:p>
            <a:pPr marL="0" indent="0" algn="ctr">
              <a:lnSpc>
                <a:spcPts val="1470"/>
              </a:lnSpc>
              <a:buNone/>
            </a:pPr>
            <a:r>
              <a:rPr lang="en-US" sz="1050" dirty="0">
                <a:solidFill>
                  <a:srgbClr val="FFFFFF"/>
                </a:solidFill>
                <a:latin typeface="Arial" pitchFamily="34" charset="0"/>
                <a:ea typeface="Arial" pitchFamily="34" charset="-122"/>
                <a:cs typeface="Arial" pitchFamily="34" charset="-120"/>
              </a:rPr>
              <a:t>Francesco Castaldi • Blockchain and Cryptocurrencies • Università di Bologna</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855</Words>
  <Application>Microsoft Office PowerPoint</Application>
  <PresentationFormat>Presentazione su schermo (16:9)</PresentationFormat>
  <Paragraphs>181</Paragraphs>
  <Slides>19</Slides>
  <Notes>19</Notes>
  <HiddenSlides>0</HiddenSlides>
  <MMClips>0</MMClips>
  <ScaleCrop>false</ScaleCrop>
  <HeadingPairs>
    <vt:vector size="6" baseType="variant">
      <vt:variant>
        <vt:lpstr>Caratteri utilizzati</vt:lpstr>
      </vt:variant>
      <vt:variant>
        <vt:i4>1</vt:i4>
      </vt:variant>
      <vt:variant>
        <vt:lpstr>Tema</vt:lpstr>
      </vt:variant>
      <vt:variant>
        <vt:i4>1</vt:i4>
      </vt:variant>
      <vt:variant>
        <vt:lpstr>Titoli diapositive</vt:lpstr>
      </vt:variant>
      <vt:variant>
        <vt:i4>19</vt:i4>
      </vt:variant>
    </vt:vector>
  </HeadingPairs>
  <TitlesOfParts>
    <vt:vector size="21" baseType="lpstr">
      <vt:lpstr>Arial</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Perplexity 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Converted Presentation</dc:title>
  <dc:subject>PptxGenJS Presentation</dc:subject>
  <dc:creator>Perplexity</dc:creator>
  <cp:lastModifiedBy>Francesco Castaldi</cp:lastModifiedBy>
  <cp:revision>2</cp:revision>
  <dcterms:created xsi:type="dcterms:W3CDTF">2026-03-02T23:24:56Z</dcterms:created>
  <dcterms:modified xsi:type="dcterms:W3CDTF">2026-03-02T23:25:51Z</dcterms:modified>
</cp:coreProperties>
</file>